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3c96be2f-4827-53f3-6abd-5ef34f38cbd4}">
          <p14:sldIdLst>
            <p14:sldId id="256"/>
            <p14:sldId id="257"/>
            <p14:sldId id="258"/>
          </p14:sldIdLst>
        </p14:section>
        <p14:section name="Comparativa" id="{14c5fe87-ca6c-26e6-1fea-670d2b1cf561}">
          <p14:sldIdLst>
            <p14:sldId id="259"/>
          </p14:sldIdLst>
        </p14:section>
        <p14:section name="Comportamiento" id="{ed2de93a-0c17-6bfa-d7a5-777c178e53a4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Métricas" id="{506ca300-6ecf-91fc-ef2f-aba2567c3fb2}">
          <p14:sldIdLst>
            <p14:sldId id="266"/>
          </p14:sldIdLst>
        </p14:section>
        <p14:section name="Hallazgos" id="{f5ed8263-e855-0131-fb86-6be52175f1d3}">
          <p14:sldIdLst>
            <p14:sldId id="267"/>
          </p14:sldIdLst>
        </p14:section>
        <p14:section name="Medidas" id="{db7640db-d96f-5acc-d2dd-215a6fba7136}">
          <p14:sldIdLst>
            <p14:sldId id="268"/>
            <p14:sldId id="269"/>
          </p14:sldIdLst>
        </p14:section>
        <p14:section name="Conclusiones" id="{d3ee2894-a6d6-392d-37b2-9108bde8b5d2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6B3FD4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6B3FD4"/>
                </a:solidFill>
                <a:latin typeface="+mj-lt"/>
              </a:rPr>
              <a:t>Sífilis: tasa por 100 mil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Sífilis</c:v>
                </c:pt>
              </c:strCache>
            </c:strRef>
          </c:tx>
          <c:spPr>
            <a:solidFill>
              <a:srgbClr val="EE6FB0"/>
            </a:solidFill>
            <a:ln w="38100" cap="flat">
              <a:solidFill>
                <a:srgbClr val="EE6FB0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E4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E6FB0"/>
              </a:solidFill>
              <a:ln w="9525" cap="flat">
                <a:solidFill>
                  <a:srgbClr val="EE6F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36.7</c:v>
                </c:pt>
                <c:pt idx="1">
                  <c:v>36.4</c:v>
                </c:pt>
                <c:pt idx="2">
                  <c:v>33.6</c:v>
                </c:pt>
                <c:pt idx="3">
                  <c:v>42</c:v>
                </c:pt>
                <c:pt idx="4">
                  <c:v>47.9</c:v>
                </c:pt>
                <c:pt idx="5">
                  <c:v>55.2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3A2E4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3DAF5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6B3FD4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6B3FD4"/>
                </a:solidFill>
                <a:latin typeface="+mj-lt"/>
              </a:rPr>
              <a:t>Sífilis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Sífilis</c:v>
                </c:pt>
              </c:strCache>
            </c:strRef>
          </c:tx>
          <c:spPr>
            <a:solidFill>
              <a:srgbClr val="EE6FB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E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E6F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D2E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D2E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Chile</c:v>
                  </c:pt>
                  <c:pt idx="1">
                    <c:v>EE.UU.</c:v>
                  </c:pt>
                  <c:pt idx="2">
                    <c:v>Europa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55.2</c:v>
                </c:pt>
                <c:pt idx="1">
                  <c:v>62.5</c:v>
                </c:pt>
                <c:pt idx="2">
                  <c:v>10.8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3A2E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6B3FD4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6B3FD4"/>
                </a:solidFill>
                <a:latin typeface="+mj-lt"/>
              </a:rPr>
              <a:t>VIH (diagnósticos)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VIH (diagnósticos)</c:v>
                </c:pt>
              </c:strCache>
            </c:strRef>
          </c:tx>
          <c:spPr>
            <a:solidFill>
              <a:srgbClr val="6B3FD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E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3F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D2E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D2E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Chile</c:v>
                  </c:pt>
                  <c:pt idx="1">
                    <c:v>EE.UU.</c:v>
                  </c:pt>
                  <c:pt idx="2">
                    <c:v>Europa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21.3</c:v>
                </c:pt>
                <c:pt idx="1">
                  <c:v>13.7</c:v>
                </c:pt>
                <c:pt idx="2">
                  <c:v>5.3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3A2E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6B3FD4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6B3FD4"/>
                </a:solidFill>
                <a:latin typeface="+mj-lt"/>
              </a:rPr>
              <a:t>Gonorrea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Gonorrea</c:v>
                </c:pt>
              </c:strCache>
            </c:strRef>
          </c:tx>
          <c:spPr>
            <a:solidFill>
              <a:srgbClr val="B9A6E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E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A6E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D2E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D2E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Chile</c:v>
                  </c:pt>
                  <c:pt idx="1">
                    <c:v>EE.UU.</c:v>
                  </c:pt>
                  <c:pt idx="2">
                    <c:v>Europa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13.3</c:v>
                </c:pt>
                <c:pt idx="1">
                  <c:v>179.5</c:v>
                </c:pt>
                <c:pt idx="2">
                  <c:v>26.9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3A2E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6B3FD4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6B3FD4"/>
                </a:solidFill>
                <a:latin typeface="+mj-lt"/>
              </a:rPr>
              <a:t>Casos nuevos por 100 mil: Chile vs mundo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Chile</c:v>
                </c:pt>
              </c:strCache>
            </c:strRef>
          </c:tx>
          <c:spPr>
            <a:solidFill>
              <a:srgbClr val="6B3FD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E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Próstata</c:v>
                  </c:pt>
                  <c:pt idx="1">
                    <c:v>Mama</c:v>
                  </c:pt>
                  <c:pt idx="2">
                    <c:v>Cuello uterino</c:v>
                  </c:pt>
                  <c:pt idx="3">
                    <c:v>Testículo</c:v>
                  </c:pt>
                  <c:pt idx="4">
                    <c:v>Ovario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41.1</c:v>
                </c:pt>
                <c:pt idx="1">
                  <c:v>29.4</c:v>
                </c:pt>
                <c:pt idx="2">
                  <c:v>11.5</c:v>
                </c:pt>
                <c:pt idx="3">
                  <c:v>6.8</c:v>
                </c:pt>
                <c:pt idx="4">
                  <c:v>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Mundo</c:v>
                </c:pt>
              </c:strCache>
            </c:strRef>
          </c:tx>
          <c:spPr>
            <a:solidFill>
              <a:srgbClr val="EE6FB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E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Próstata</c:v>
                  </c:pt>
                  <c:pt idx="1">
                    <c:v>Mama</c:v>
                  </c:pt>
                  <c:pt idx="2">
                    <c:v>Cuello uterino</c:v>
                  </c:pt>
                  <c:pt idx="3">
                    <c:v>Testículo</c:v>
                  </c:pt>
                  <c:pt idx="4">
                    <c:v>Ovario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22.4</c:v>
                </c:pt>
                <c:pt idx="1">
                  <c:v>47.8</c:v>
                </c:pt>
                <c:pt idx="2">
                  <c:v>11.8</c:v>
                </c:pt>
                <c:pt idx="3">
                  <c:v>1.8</c:v>
                </c:pt>
                <c:pt idx="4">
                  <c:v>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3A2E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2E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6B3FD4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6B3FD4"/>
                </a:solidFill>
                <a:latin typeface="+mj-lt"/>
              </a:rPr>
              <a:t>Fecundidad de 15 a 19 años (por 1.000)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 mil</c:v>
                </c:pt>
              </c:strCache>
            </c:strRef>
          </c:tx>
          <c:spPr>
            <a:solidFill>
              <a:srgbClr val="EE6FB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E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2015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39.3</c:v>
                </c:pt>
                <c:pt idx="1">
                  <c:v>23.2</c:v>
                </c:pt>
                <c:pt idx="2">
                  <c:v>15.4</c:v>
                </c:pt>
                <c:pt idx="3">
                  <c:v>12.2</c:v>
                </c:pt>
                <c:pt idx="4">
                  <c:v>11.5</c:v>
                </c:pt>
                <c:pt idx="5">
                  <c:v>9.3</c:v>
                </c:pt>
                <c:pt idx="6">
                  <c:v>8.3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3A2E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6B3FD4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6B3FD4"/>
                </a:solidFill>
                <a:latin typeface="+mj-lt"/>
              </a:rPr>
              <a:t>Matronas inscritas en la Superintendencia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Matronas</c:v>
                </c:pt>
              </c:strCache>
            </c:strRef>
          </c:tx>
          <c:spPr>
            <a:solidFill>
              <a:srgbClr val="6B3F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E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13723</c:v>
                </c:pt>
                <c:pt idx="1">
                  <c:v>14484</c:v>
                </c:pt>
                <c:pt idx="2">
                  <c:v>14992</c:v>
                </c:pt>
                <c:pt idx="3">
                  <c:v>15990</c:v>
                </c:pt>
                <c:pt idx="4">
                  <c:v>17224</c:v>
                </c:pt>
                <c:pt idx="5">
                  <c:v>23333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A2E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6B3FD4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6B3FD4"/>
                </a:solidFill>
                <a:latin typeface="+mj-lt"/>
              </a:rPr>
              <a:t>Muertes por cáncer al año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Muertes</c:v>
                </c:pt>
              </c:strCache>
            </c:strRef>
          </c:tx>
          <c:spPr>
            <a:solidFill>
              <a:srgbClr val="6B3F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E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2001</c:v>
                  </c:pt>
                  <c:pt idx="1">
                    <c:v>2015</c:v>
                  </c:pt>
                  <c:pt idx="2">
                    <c:v>2017</c:v>
                  </c:pt>
                  <c:pt idx="3">
                    <c:v>2019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18394</c:v>
                </c:pt>
                <c:pt idx="1">
                  <c:v>26866</c:v>
                </c:pt>
                <c:pt idx="2">
                  <c:v>27504</c:v>
                </c:pt>
                <c:pt idx="3">
                  <c:v>28492</c:v>
                </c:pt>
                <c:pt idx="4">
                  <c:v>29636</c:v>
                </c:pt>
                <c:pt idx="5">
                  <c:v>31454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A2E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6B3FD4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6B3FD4"/>
                </a:solidFill>
                <a:latin typeface="+mj-lt"/>
              </a:rPr>
              <a:t>Sets del ajuar entregados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Sets entregados</c:v>
                </c:pt>
              </c:strCache>
            </c:strRef>
          </c:tx>
          <c:spPr>
            <a:solidFill>
              <a:srgbClr val="EE6FB0"/>
            </a:solidFill>
            <a:ln w="38100" cap="flat">
              <a:solidFill>
                <a:srgbClr val="EE6F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E4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E6FB0"/>
              </a:solidFill>
              <a:ln w="9525" cap="flat">
                <a:solidFill>
                  <a:srgbClr val="EE6F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2017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</c:v>
                  </c:pt>
                  <c:pt idx="5">
                    <c:v>2022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134332</c:v>
                </c:pt>
                <c:pt idx="1">
                  <c:v>141883</c:v>
                </c:pt>
                <c:pt idx="2">
                  <c:v>133808</c:v>
                </c:pt>
                <c:pt idx="3">
                  <c:v>113283</c:v>
                </c:pt>
                <c:pt idx="4">
                  <c:v>100977</c:v>
                </c:pt>
                <c:pt idx="5">
                  <c:v>113858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A2E4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80000"/>
        </c:scaling>
        <c:delete val="0"/>
        <c:axPos val="l"/>
        <c:majorGridlines>
          <c:spPr>
            <a:ln w="6350" cap="flat">
              <a:solidFill>
                <a:srgbClr val="E3DAF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E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Las miniaturas de la derecha abren cada tablero en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IDO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María Cisterna, matron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46920" y="201168"/>
            <a:ext cx="2194560" cy="7315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"/>
            <a:ext cx="8778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932688"/>
            <a:ext cx="8778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3840480" y="64739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Cisterna Escobar · Matrona · Registro Superintendencia de Salud N° 561993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necist/Analisis-de-datos-dashboards/tree/main/dashboard-anticonceptivos-chile" TargetMode="External"/><Relationship Id="rId5" Type="http://schemas.openxmlformats.org/officeDocument/2006/relationships/hyperlink" Target="https://github.com/manecist/Analisis-de-datos-dashboards/tree/main/dashboard-its-chile" TargetMode="External"/><Relationship Id="rId7" Type="http://schemas.openxmlformats.org/officeDocument/2006/relationships/hyperlink" Target="https://github.com/manecist/Analisis-de-datos-dashboards/tree/main/dashboard-embarazo-matronas-chile" TargetMode="External"/><Relationship Id="rId9" Type="http://schemas.openxmlformats.org/officeDocument/2006/relationships/hyperlink" Target="https://github.com/manecist/Analisis-de-datos-dashboards/tree/main/dashboard-ajuar-chile-crece-contigo" TargetMode="External"/><Relationship Id="rId11" Type="http://schemas.openxmlformats.org/officeDocument/2006/relationships/hyperlink" Target="https://github.com/manecist/Analisis-de-datos-dashboards/tree/main/dashboard-cancer-chile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4" Type="http://schemas.openxmlformats.org/officeDocument/2006/relationships/image" Target="../media/image-1-3.jpg"/><Relationship Id="rId6" Type="http://schemas.openxmlformats.org/officeDocument/2006/relationships/image" Target="../media/image-1-4.jpg"/><Relationship Id="rId8" Type="http://schemas.openxmlformats.org/officeDocument/2006/relationships/image" Target="../media/image-1-5.jpg"/><Relationship Id="rId10" Type="http://schemas.openxmlformats.org/officeDocument/2006/relationships/image" Target="../media/image-1-6.jp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6" Type="http://schemas.openxmlformats.org/officeDocument/2006/relationships/slide" Target="slide4.xml"/><Relationship Id="rId9" Type="http://schemas.openxmlformats.org/officeDocument/2006/relationships/slide" Target="slide5.xml"/><Relationship Id="rId12" Type="http://schemas.openxmlformats.org/officeDocument/2006/relationships/slide" Target="slide6.xml"/><Relationship Id="rId15" Type="http://schemas.openxmlformats.org/officeDocument/2006/relationships/slide" Target="slide7.xml"/><Relationship Id="rId18" Type="http://schemas.openxmlformats.org/officeDocument/2006/relationships/slide" Target="slide11.xml"/><Relationship Id="rId21" Type="http://schemas.openxmlformats.org/officeDocument/2006/relationships/slide" Target="slide12.xml"/><Relationship Id="rId24" Type="http://schemas.openxmlformats.org/officeDocument/2006/relationships/slide" Target="slide13.xml"/><Relationship Id="rId27" Type="http://schemas.openxmlformats.org/officeDocument/2006/relationships/slide" Target="slide14.xml"/><Relationship Id="rId30" Type="http://schemas.openxmlformats.org/officeDocument/2006/relationships/slide" Target="slide15.xml"/><Relationship Id="rId33" Type="http://schemas.openxmlformats.org/officeDocument/2006/relationships/slide" Target="slide2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2.png"/><Relationship Id="rId7" Type="http://schemas.openxmlformats.org/officeDocument/2006/relationships/image" Target="../media/image-2-5.png"/><Relationship Id="rId8" Type="http://schemas.openxmlformats.org/officeDocument/2006/relationships/image" Target="../media/image-2-2.png"/><Relationship Id="rId10" Type="http://schemas.openxmlformats.org/officeDocument/2006/relationships/image" Target="../media/image-2-7.png"/><Relationship Id="rId11" Type="http://schemas.openxmlformats.org/officeDocument/2006/relationships/image" Target="../media/image-2-2.png"/><Relationship Id="rId13" Type="http://schemas.openxmlformats.org/officeDocument/2006/relationships/image" Target="../media/image-2-9.png"/><Relationship Id="rId14" Type="http://schemas.openxmlformats.org/officeDocument/2006/relationships/image" Target="../media/image-2-2.png"/><Relationship Id="rId16" Type="http://schemas.openxmlformats.org/officeDocument/2006/relationships/image" Target="../media/image-2-11.png"/><Relationship Id="rId17" Type="http://schemas.openxmlformats.org/officeDocument/2006/relationships/image" Target="../media/image-2-2.png"/><Relationship Id="rId19" Type="http://schemas.openxmlformats.org/officeDocument/2006/relationships/image" Target="../media/image-2-13.png"/><Relationship Id="rId20" Type="http://schemas.openxmlformats.org/officeDocument/2006/relationships/image" Target="../media/image-2-2.png"/><Relationship Id="rId22" Type="http://schemas.openxmlformats.org/officeDocument/2006/relationships/image" Target="../media/image-2-15.png"/><Relationship Id="rId23" Type="http://schemas.openxmlformats.org/officeDocument/2006/relationships/image" Target="../media/image-2-2.png"/><Relationship Id="rId25" Type="http://schemas.openxmlformats.org/officeDocument/2006/relationships/image" Target="../media/image-2-17.png"/><Relationship Id="rId26" Type="http://schemas.openxmlformats.org/officeDocument/2006/relationships/image" Target="../media/image-2-2.png"/><Relationship Id="rId28" Type="http://schemas.openxmlformats.org/officeDocument/2006/relationships/image" Target="../media/image-2-19.png"/><Relationship Id="rId29" Type="http://schemas.openxmlformats.org/officeDocument/2006/relationships/image" Target="../media/image-2-2.png"/><Relationship Id="rId31" Type="http://schemas.openxmlformats.org/officeDocument/2006/relationships/image" Target="../media/image-2-21.png"/><Relationship Id="rId32" Type="http://schemas.openxmlformats.org/officeDocument/2006/relationships/image" Target="../media/image-2-2.png"/><Relationship Id="rId34" Type="http://schemas.openxmlformats.org/officeDocument/2006/relationships/slideLayout" Target="../slideLayouts/slideLayout3.xml"/><Relationship Id="rId3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necist/Analisis-de-datos-dashboards/tree/main/dashboard-anticonceptivos-chile" TargetMode="External"/><Relationship Id="rId4" Type="http://schemas.openxmlformats.org/officeDocument/2006/relationships/hyperlink" Target="https://github.com/manecist/Analisis-de-datos-dashboards/tree/main/dashboard-anticonceptivos-chile" TargetMode="External"/><Relationship Id="rId6" Type="http://schemas.openxmlformats.org/officeDocument/2006/relationships/hyperlink" Target="https://github.com/manecist/Analisis-de-datos-dashboards/tree/main/dashboard-its-chile" TargetMode="External"/><Relationship Id="rId8" Type="http://schemas.openxmlformats.org/officeDocument/2006/relationships/hyperlink" Target="https://github.com/manecist/Analisis-de-datos-dashboards/tree/main/dashboard-its-chile" TargetMode="External"/><Relationship Id="rId10" Type="http://schemas.openxmlformats.org/officeDocument/2006/relationships/hyperlink" Target="https://github.com/manecist/Analisis-de-datos-dashboards/tree/main/dashboard-embarazo-matronas-chile" TargetMode="External"/><Relationship Id="rId12" Type="http://schemas.openxmlformats.org/officeDocument/2006/relationships/hyperlink" Target="https://github.com/manecist/Analisis-de-datos-dashboards/tree/main/dashboard-embarazo-matronas-chile" TargetMode="External"/><Relationship Id="rId14" Type="http://schemas.openxmlformats.org/officeDocument/2006/relationships/hyperlink" Target="https://github.com/manecist/Analisis-de-datos-dashboards/tree/main/dashboard-ajuar-chile-crece-contigo" TargetMode="External"/><Relationship Id="rId16" Type="http://schemas.openxmlformats.org/officeDocument/2006/relationships/hyperlink" Target="https://github.com/manecist/Analisis-de-datos-dashboards/tree/main/dashboard-ajuar-chile-crece-contigo" TargetMode="External"/><Relationship Id="rId18" Type="http://schemas.openxmlformats.org/officeDocument/2006/relationships/hyperlink" Target="https://github.com/manecist/Analisis-de-datos-dashboards/tree/main/dashboard-cancer-chile" TargetMode="External"/><Relationship Id="rId20" Type="http://schemas.openxmlformats.org/officeDocument/2006/relationships/hyperlink" Target="https://github.com/manecist/Analisis-de-datos-dashboards/tree/main/dashboard-cancer-chile" TargetMode="External"/><Relationship Id="rId23" Type="http://schemas.openxmlformats.org/officeDocument/2006/relationships/slide" Target="slide2.xml"/><Relationship Id="rId1" Type="http://schemas.openxmlformats.org/officeDocument/2006/relationships/image" Target="../media/image-3-1.jpg"/><Relationship Id="rId3" Type="http://schemas.openxmlformats.org/officeDocument/2006/relationships/image" Target="../media/image-3-2.png"/><Relationship Id="rId5" Type="http://schemas.openxmlformats.org/officeDocument/2006/relationships/image" Target="../media/image-3-3.jpg"/><Relationship Id="rId7" Type="http://schemas.openxmlformats.org/officeDocument/2006/relationships/image" Target="../media/image-3-4.png"/><Relationship Id="rId9" Type="http://schemas.openxmlformats.org/officeDocument/2006/relationships/image" Target="../media/image-3-5.jpg"/><Relationship Id="rId11" Type="http://schemas.openxmlformats.org/officeDocument/2006/relationships/image" Target="../media/image-3-6.png"/><Relationship Id="rId13" Type="http://schemas.openxmlformats.org/officeDocument/2006/relationships/image" Target="../media/image-3-7.jpg"/><Relationship Id="rId15" Type="http://schemas.openxmlformats.org/officeDocument/2006/relationships/image" Target="../media/image-3-8.png"/><Relationship Id="rId17" Type="http://schemas.openxmlformats.org/officeDocument/2006/relationships/image" Target="../media/image-3-9.jpg"/><Relationship Id="rId19" Type="http://schemas.openxmlformats.org/officeDocument/2006/relationships/image" Target="../media/image-3-10.png"/><Relationship Id="rId21" Type="http://schemas.openxmlformats.org/officeDocument/2006/relationships/image" Target="../media/image-3-11.png"/><Relationship Id="rId22" Type="http://schemas.openxmlformats.org/officeDocument/2006/relationships/image" Target="../media/image-3-12.png"/><Relationship Id="rId24" Type="http://schemas.openxmlformats.org/officeDocument/2006/relationships/slideLayout" Target="../slideLayouts/slideLayout3.xml"/><Relationship Id="rId2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2" Type="http://schemas.openxmlformats.org/officeDocument/2006/relationships/slide" Target="slide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slide" Target="slide2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" Target="slide2.xml"/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image" Target="../media/image-7-1.png"/><Relationship Id="rId5" Type="http://schemas.openxmlformats.org/officeDocument/2006/relationships/image" Target="../media/image-7-2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chart" Target="/ppt/charts/chart5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image" Target="../media/image-9-1.png"/><Relationship Id="rId4" Type="http://schemas.openxmlformats.org/officeDocument/2006/relationships/image" Target="../media/image-9-2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image" Target="../media/image-10-1.png"/><Relationship Id="rId4" Type="http://schemas.openxmlformats.org/officeDocument/2006/relationships/image" Target="../media/image-10-2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4" Type="http://schemas.openxmlformats.org/officeDocument/2006/relationships/slide" Target="slide2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" Target="slide2.xm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necist/Analisis-de-datos-dashboards/tree/main/dashboard-its-chile" TargetMode="External"/><Relationship Id="rId5" Type="http://schemas.openxmlformats.org/officeDocument/2006/relationships/slide" Target="slide2.xml"/><Relationship Id="rId1" Type="http://schemas.openxmlformats.org/officeDocument/2006/relationships/image" Target="../media/image-13-1.jpg"/><Relationship Id="rId3" Type="http://schemas.openxmlformats.org/officeDocument/2006/relationships/image" Target="../media/image-13-2.png"/><Relationship Id="rId4" Type="http://schemas.openxmlformats.org/officeDocument/2006/relationships/image" Target="../media/image-13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" Target="slide2.xm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" Target="slide2.xml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María Cisterna, matron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502920"/>
            <a:ext cx="4754880" cy="15819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4884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Salud sexual y reproductiva en Chile, en datos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9776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tableros de análisis en Power BI y Tableau: anticonceptivos, ITS, embarazo y matronería, ajuar del recién nacido y cáncer</a:t>
            </a:r>
            <a:endParaRPr lang="en-US" sz="1800" dirty="0"/>
          </a:p>
        </p:txBody>
      </p:sp>
      <p:pic>
        <p:nvPicPr>
          <p:cNvPr id="5" name="Miniatura anti" descr="Tablero Anticonceptivos">
            <a:hlinkClick r:id="rId3" tooltip="Abrir el tablero en GitHub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822960"/>
            <a:ext cx="1920240" cy="107899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pic>
      <p:pic>
        <p:nvPicPr>
          <p:cNvPr id="6" name="Miniatura its" descr="Tablero ITS en Chile">
            <a:hlinkClick r:id="rId5" tooltip="Abrir el tablero en GitHub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1600200"/>
            <a:ext cx="1920240" cy="107899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pic>
      <p:pic>
        <p:nvPicPr>
          <p:cNvPr id="7" name="Miniatura emb" descr="Tablero Embarazo y matronería">
            <a:hlinkClick r:id="rId7" tooltip="Abrir el tablero en GitHub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2606040"/>
            <a:ext cx="1920240" cy="107899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pic>
      <p:pic>
        <p:nvPicPr>
          <p:cNvPr id="8" name="Miniatura parn" descr="Tablero Ajuar del recién nacido">
            <a:hlinkClick r:id="rId9" tooltip="Abrir el tablero en GitHub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3383280"/>
            <a:ext cx="1920240" cy="107899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pic>
      <p:pic>
        <p:nvPicPr>
          <p:cNvPr id="9" name="Miniatura cancer" descr="Tablero Cáncer en Chile">
            <a:hlinkClick r:id="rId11" tooltip="Abrir el tablero en GitHub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0" y="4389120"/>
            <a:ext cx="1920240" cy="107899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pic>
      <p:sp>
        <p:nvSpPr>
          <p:cNvPr id="10" name="Autora"/>
          <p:cNvSpPr txBox="1"/>
          <p:nvPr/>
        </p:nvSpPr>
        <p:spPr>
          <a:xfrm>
            <a:off x="731520" y="52578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María Cisterna Escobar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Matrona · Registro Superintendencia de Salud N° 561993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Octubre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3268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una tarjeta para ir a esa parte; el botón Índice de cada diapositiva te trae de vuelta</a:t>
            </a:r>
            <a:endParaRPr lang="en-US" sz="1500" dirty="0"/>
          </a:p>
        </p:txBody>
      </p:sp>
      <p:sp>
        <p:nvSpPr>
          <p:cNvPr id="4" name="Tarjeta Los 5 tableros"/>
          <p:cNvSpPr/>
          <p:nvPr/>
        </p:nvSpPr>
        <p:spPr>
          <a:xfrm>
            <a:off x="548640" y="1554480"/>
            <a:ext cx="2057400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5" name="Círculo FaTableCellsLarge"/>
          <p:cNvSpPr/>
          <p:nvPr/>
        </p:nvSpPr>
        <p:spPr>
          <a:xfrm>
            <a:off x="777240" y="1810512"/>
            <a:ext cx="640080" cy="640080"/>
          </a:xfrm>
          <a:prstGeom prst="ellipse">
            <a:avLst/>
          </a:prstGeom>
          <a:solidFill>
            <a:srgbClr val="6B3FD4"/>
          </a:solidFill>
          <a:ln w="12700">
            <a:solidFill>
              <a:srgbClr val="6B3FD4"/>
            </a:solidFill>
            <a:prstDash val="solid"/>
          </a:ln>
        </p:spPr>
      </p:sp>
      <p:pic>
        <p:nvPicPr>
          <p:cNvPr id="6" name="Ícono FaTableCellsLar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964131"/>
            <a:ext cx="332842" cy="332842"/>
          </a:xfrm>
          <a:prstGeom prst="rect">
            <a:avLst/>
          </a:prstGeom>
        </p:spPr>
      </p:pic>
      <p:sp>
        <p:nvSpPr>
          <p:cNvPr id="7" name="Título Los 5 tableros"/>
          <p:cNvSpPr txBox="1"/>
          <p:nvPr/>
        </p:nvSpPr>
        <p:spPr>
          <a:xfrm>
            <a:off x="777240" y="2560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5 tableros</a:t>
            </a:r>
            <a:endParaRPr lang="en-US" sz="1700" dirty="0"/>
          </a:p>
        </p:txBody>
      </p:sp>
      <p:sp>
        <p:nvSpPr>
          <p:cNvPr id="8" name="Detalle Los 5 tableros"/>
          <p:cNvSpPr txBox="1"/>
          <p:nvPr/>
        </p:nvSpPr>
        <p:spPr>
          <a:xfrm>
            <a:off x="77724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Qué responde cada uno</a:t>
            </a:r>
            <a:endParaRPr lang="en-US" sz="1300" dirty="0"/>
          </a:p>
        </p:txBody>
      </p:sp>
      <p:sp>
        <p:nvSpPr>
          <p:cNvPr id="9" name="Página Los 5 tableros"/>
          <p:cNvSpPr txBox="1"/>
          <p:nvPr/>
        </p:nvSpPr>
        <p:spPr>
          <a:xfrm>
            <a:off x="2011680" y="1810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pic>
        <p:nvPicPr>
          <p:cNvPr id="10" name="Enlace Ir a Los 5 tableros" descr="">
            <a:hlinkClick r:id="rId3" tooltip="Ir a Los 5 tableros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057400" cy="2057400"/>
          </a:xfrm>
          <a:prstGeom prst="rect">
            <a:avLst/>
          </a:prstGeom>
        </p:spPr>
      </p:pic>
      <p:sp>
        <p:nvSpPr>
          <p:cNvPr id="11" name="Tarjeta Antes y ahora"/>
          <p:cNvSpPr/>
          <p:nvPr/>
        </p:nvSpPr>
        <p:spPr>
          <a:xfrm>
            <a:off x="2788920" y="1554480"/>
            <a:ext cx="2057400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12" name="Círculo FaCodeCompare"/>
          <p:cNvSpPr/>
          <p:nvPr/>
        </p:nvSpPr>
        <p:spPr>
          <a:xfrm>
            <a:off x="3017520" y="1810512"/>
            <a:ext cx="640080" cy="640080"/>
          </a:xfrm>
          <a:prstGeom prst="ellipse">
            <a:avLst/>
          </a:prstGeom>
          <a:solidFill>
            <a:srgbClr val="EE6FB0"/>
          </a:solidFill>
          <a:ln w="12700">
            <a:solidFill>
              <a:srgbClr val="EE6FB0"/>
            </a:solidFill>
            <a:prstDash val="solid"/>
          </a:ln>
        </p:spPr>
      </p:sp>
      <p:pic>
        <p:nvPicPr>
          <p:cNvPr id="13" name="Ícono FaCodeCompar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139" y="1964131"/>
            <a:ext cx="332842" cy="332842"/>
          </a:xfrm>
          <a:prstGeom prst="rect">
            <a:avLst/>
          </a:prstGeom>
        </p:spPr>
      </p:pic>
      <p:sp>
        <p:nvSpPr>
          <p:cNvPr id="14" name="Título Antes y ahora"/>
          <p:cNvSpPr txBox="1"/>
          <p:nvPr/>
        </p:nvSpPr>
        <p:spPr>
          <a:xfrm>
            <a:off x="3017520" y="2560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y ahora</a:t>
            </a:r>
            <a:endParaRPr lang="en-US" sz="1700" dirty="0"/>
          </a:p>
        </p:txBody>
      </p:sp>
      <p:sp>
        <p:nvSpPr>
          <p:cNvPr id="15" name="Detalle Antes y ahora"/>
          <p:cNvSpPr txBox="1"/>
          <p:nvPr/>
        </p:nvSpPr>
        <p:spPr>
          <a:xfrm>
            <a:off x="301752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Primer año vs último dato</a:t>
            </a:r>
            <a:endParaRPr lang="en-US" sz="1300" dirty="0"/>
          </a:p>
        </p:txBody>
      </p:sp>
      <p:sp>
        <p:nvSpPr>
          <p:cNvPr id="16" name="Página Antes y ahora"/>
          <p:cNvSpPr txBox="1"/>
          <p:nvPr/>
        </p:nvSpPr>
        <p:spPr>
          <a:xfrm>
            <a:off x="4251960" y="1810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pic>
        <p:nvPicPr>
          <p:cNvPr id="17" name="Enlace Ir a Antes y ahora" descr="">
            <a:hlinkClick r:id="rId6" tooltip="Ir a Antes y ahora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8920" y="1554480"/>
            <a:ext cx="2057400" cy="2057400"/>
          </a:xfrm>
          <a:prstGeom prst="rect">
            <a:avLst/>
          </a:prstGeom>
        </p:spPr>
      </p:pic>
      <p:sp>
        <p:nvSpPr>
          <p:cNvPr id="18" name="Tarjeta Comportamiento"/>
          <p:cNvSpPr/>
          <p:nvPr/>
        </p:nvSpPr>
        <p:spPr>
          <a:xfrm>
            <a:off x="5029200" y="1554480"/>
            <a:ext cx="2057400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19" name="Círculo FaChartLine"/>
          <p:cNvSpPr/>
          <p:nvPr/>
        </p:nvSpPr>
        <p:spPr>
          <a:xfrm>
            <a:off x="5257800" y="1810512"/>
            <a:ext cx="640080" cy="640080"/>
          </a:xfrm>
          <a:prstGeom prst="ellipse">
            <a:avLst/>
          </a:prstGeom>
          <a:solidFill>
            <a:srgbClr val="6B3FD4"/>
          </a:solidFill>
          <a:ln w="12700">
            <a:solidFill>
              <a:srgbClr val="6B3FD4"/>
            </a:solidFill>
            <a:prstDash val="solid"/>
          </a:ln>
        </p:spPr>
      </p:sp>
      <p:pic>
        <p:nvPicPr>
          <p:cNvPr id="20" name="Ícono FaChartLi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1419" y="1964131"/>
            <a:ext cx="332842" cy="332842"/>
          </a:xfrm>
          <a:prstGeom prst="rect">
            <a:avLst/>
          </a:prstGeom>
        </p:spPr>
      </p:pic>
      <p:sp>
        <p:nvSpPr>
          <p:cNvPr id="21" name="Título Comportamiento"/>
          <p:cNvSpPr txBox="1"/>
          <p:nvPr/>
        </p:nvSpPr>
        <p:spPr>
          <a:xfrm>
            <a:off x="5257800" y="2560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Comportamiento</a:t>
            </a:r>
            <a:endParaRPr lang="en-US" sz="1700" dirty="0"/>
          </a:p>
        </p:txBody>
      </p:sp>
      <p:sp>
        <p:nvSpPr>
          <p:cNvPr id="22" name="Detalle Comportamiento"/>
          <p:cNvSpPr txBox="1"/>
          <p:nvPr/>
        </p:nvSpPr>
        <p:spPr>
          <a:xfrm>
            <a:off x="525780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Cómo se movieron las curvas</a:t>
            </a:r>
            <a:endParaRPr lang="en-US" sz="1300" dirty="0"/>
          </a:p>
        </p:txBody>
      </p:sp>
      <p:sp>
        <p:nvSpPr>
          <p:cNvPr id="23" name="Página Comportamiento"/>
          <p:cNvSpPr txBox="1"/>
          <p:nvPr/>
        </p:nvSpPr>
        <p:spPr>
          <a:xfrm>
            <a:off x="6492240" y="1810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5</a:t>
            </a:r>
            <a:endParaRPr lang="en-US" sz="1200" dirty="0"/>
          </a:p>
        </p:txBody>
      </p:sp>
      <p:pic>
        <p:nvPicPr>
          <p:cNvPr id="24" name="Enlace Ir a Comportamiento" descr="">
            <a:hlinkClick r:id="rId9" tooltip="Ir a Comportamiento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554480"/>
            <a:ext cx="2057400" cy="2057400"/>
          </a:xfrm>
          <a:prstGeom prst="rect">
            <a:avLst/>
          </a:prstGeom>
        </p:spPr>
      </p:pic>
      <p:sp>
        <p:nvSpPr>
          <p:cNvPr id="25" name="Tarjeta Todas las ITS"/>
          <p:cNvSpPr/>
          <p:nvPr/>
        </p:nvSpPr>
        <p:spPr>
          <a:xfrm>
            <a:off x="7269480" y="1554480"/>
            <a:ext cx="2057400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26" name="Círculo FaVirus"/>
          <p:cNvSpPr/>
          <p:nvPr/>
        </p:nvSpPr>
        <p:spPr>
          <a:xfrm>
            <a:off x="7498080" y="1810512"/>
            <a:ext cx="640080" cy="640080"/>
          </a:xfrm>
          <a:prstGeom prst="ellipse">
            <a:avLst/>
          </a:prstGeom>
          <a:solidFill>
            <a:srgbClr val="EE6FB0"/>
          </a:solidFill>
          <a:ln w="12700">
            <a:solidFill>
              <a:srgbClr val="EE6FB0"/>
            </a:solidFill>
            <a:prstDash val="solid"/>
          </a:ln>
        </p:spPr>
      </p:sp>
      <p:pic>
        <p:nvPicPr>
          <p:cNvPr id="27" name="Ícono FaVirus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1699" y="1964131"/>
            <a:ext cx="332842" cy="332842"/>
          </a:xfrm>
          <a:prstGeom prst="rect">
            <a:avLst/>
          </a:prstGeom>
        </p:spPr>
      </p:pic>
      <p:sp>
        <p:nvSpPr>
          <p:cNvPr id="28" name="Título Todas las ITS"/>
          <p:cNvSpPr txBox="1"/>
          <p:nvPr/>
        </p:nvSpPr>
        <p:spPr>
          <a:xfrm>
            <a:off x="7498080" y="2560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las ITS</a:t>
            </a:r>
            <a:endParaRPr lang="en-US" sz="1700" dirty="0"/>
          </a:p>
        </p:txBody>
      </p:sp>
      <p:sp>
        <p:nvSpPr>
          <p:cNvPr id="29" name="Detalle Todas las ITS"/>
          <p:cNvSpPr txBox="1"/>
          <p:nvPr/>
        </p:nvSpPr>
        <p:spPr>
          <a:xfrm>
            <a:off x="749808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Qué se vigila en Chile</a:t>
            </a:r>
            <a:endParaRPr lang="en-US" sz="1300" dirty="0"/>
          </a:p>
        </p:txBody>
      </p:sp>
      <p:sp>
        <p:nvSpPr>
          <p:cNvPr id="30" name="Página Todas las ITS"/>
          <p:cNvSpPr txBox="1"/>
          <p:nvPr/>
        </p:nvSpPr>
        <p:spPr>
          <a:xfrm>
            <a:off x="8732520" y="1810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6</a:t>
            </a:r>
            <a:endParaRPr lang="en-US" sz="1200" dirty="0"/>
          </a:p>
        </p:txBody>
      </p:sp>
      <p:pic>
        <p:nvPicPr>
          <p:cNvPr id="31" name="Enlace Ir a Todas las ITS" descr="">
            <a:hlinkClick r:id="rId12" tooltip="Ir a Todas las ITS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9480" y="1554480"/>
            <a:ext cx="2057400" cy="2057400"/>
          </a:xfrm>
          <a:prstGeom prst="rect">
            <a:avLst/>
          </a:prstGeom>
        </p:spPr>
      </p:pic>
      <p:sp>
        <p:nvSpPr>
          <p:cNvPr id="32" name="Tarjeta Chile y el mundo"/>
          <p:cNvSpPr/>
          <p:nvPr/>
        </p:nvSpPr>
        <p:spPr>
          <a:xfrm>
            <a:off x="9509760" y="1554480"/>
            <a:ext cx="2057400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33" name="Círculo FaEarthAmericas"/>
          <p:cNvSpPr/>
          <p:nvPr/>
        </p:nvSpPr>
        <p:spPr>
          <a:xfrm>
            <a:off x="9738360" y="1810512"/>
            <a:ext cx="640080" cy="640080"/>
          </a:xfrm>
          <a:prstGeom prst="ellipse">
            <a:avLst/>
          </a:prstGeom>
          <a:solidFill>
            <a:srgbClr val="6B3FD4"/>
          </a:solidFill>
          <a:ln w="12700">
            <a:solidFill>
              <a:srgbClr val="6B3FD4"/>
            </a:solidFill>
            <a:prstDash val="solid"/>
          </a:ln>
        </p:spPr>
      </p:sp>
      <p:pic>
        <p:nvPicPr>
          <p:cNvPr id="34" name="Ícono FaEarthAmericas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1979" y="1964131"/>
            <a:ext cx="332842" cy="332842"/>
          </a:xfrm>
          <a:prstGeom prst="rect">
            <a:avLst/>
          </a:prstGeom>
        </p:spPr>
      </p:pic>
      <p:sp>
        <p:nvSpPr>
          <p:cNvPr id="35" name="Título Chile y el mundo"/>
          <p:cNvSpPr txBox="1"/>
          <p:nvPr/>
        </p:nvSpPr>
        <p:spPr>
          <a:xfrm>
            <a:off x="9738360" y="2560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Chile y el mundo</a:t>
            </a:r>
            <a:endParaRPr lang="en-US" sz="1700" dirty="0"/>
          </a:p>
        </p:txBody>
      </p:sp>
      <p:sp>
        <p:nvSpPr>
          <p:cNvPr id="36" name="Detalle Chile y el mundo"/>
          <p:cNvSpPr txBox="1"/>
          <p:nvPr/>
        </p:nvSpPr>
        <p:spPr>
          <a:xfrm>
            <a:off x="973836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Dónde está Chile</a:t>
            </a:r>
            <a:endParaRPr lang="en-US" sz="1300" dirty="0"/>
          </a:p>
        </p:txBody>
      </p:sp>
      <p:sp>
        <p:nvSpPr>
          <p:cNvPr id="37" name="Página Chile y el mundo"/>
          <p:cNvSpPr txBox="1"/>
          <p:nvPr/>
        </p:nvSpPr>
        <p:spPr>
          <a:xfrm>
            <a:off x="10972800" y="1810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7</a:t>
            </a:r>
            <a:endParaRPr lang="en-US" sz="1200" dirty="0"/>
          </a:p>
        </p:txBody>
      </p:sp>
      <p:pic>
        <p:nvPicPr>
          <p:cNvPr id="38" name="Enlace Ir a Chile y el mundo" descr="">
            <a:hlinkClick r:id="rId15" tooltip="Ir a Chile y el mundo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09760" y="1554480"/>
            <a:ext cx="2057400" cy="2057400"/>
          </a:xfrm>
          <a:prstGeom prst="rect">
            <a:avLst/>
          </a:prstGeom>
        </p:spPr>
      </p:pic>
      <p:sp>
        <p:nvSpPr>
          <p:cNvPr id="39" name="Tarjeta Métricas y metas"/>
          <p:cNvSpPr/>
          <p:nvPr/>
        </p:nvSpPr>
        <p:spPr>
          <a:xfrm>
            <a:off x="548640" y="3840480"/>
            <a:ext cx="2057400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40" name="Círculo FaBullseye"/>
          <p:cNvSpPr/>
          <p:nvPr/>
        </p:nvSpPr>
        <p:spPr>
          <a:xfrm>
            <a:off x="777240" y="4096512"/>
            <a:ext cx="640080" cy="640080"/>
          </a:xfrm>
          <a:prstGeom prst="ellipse">
            <a:avLst/>
          </a:prstGeom>
          <a:solidFill>
            <a:srgbClr val="EE6FB0"/>
          </a:solidFill>
          <a:ln w="12700">
            <a:solidFill>
              <a:srgbClr val="EE6FB0"/>
            </a:solidFill>
            <a:prstDash val="solid"/>
          </a:ln>
        </p:spPr>
      </p:sp>
      <p:pic>
        <p:nvPicPr>
          <p:cNvPr id="41" name="Ícono FaBullseye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0859" y="4250131"/>
            <a:ext cx="332842" cy="332842"/>
          </a:xfrm>
          <a:prstGeom prst="rect">
            <a:avLst/>
          </a:prstGeom>
        </p:spPr>
      </p:pic>
      <p:sp>
        <p:nvSpPr>
          <p:cNvPr id="42" name="Título Métricas y metas"/>
          <p:cNvSpPr txBox="1"/>
          <p:nvPr/>
        </p:nvSpPr>
        <p:spPr>
          <a:xfrm>
            <a:off x="777240" y="4846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y metas</a:t>
            </a:r>
            <a:endParaRPr lang="en-US" sz="1700" dirty="0"/>
          </a:p>
        </p:txBody>
      </p:sp>
      <p:sp>
        <p:nvSpPr>
          <p:cNvPr id="43" name="Detalle Métricas y metas"/>
          <p:cNvSpPr txBox="1"/>
          <p:nvPr/>
        </p:nvSpPr>
        <p:spPr>
          <a:xfrm>
            <a:off x="777240" y="5257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Qué cumple y qué no</a:t>
            </a:r>
            <a:endParaRPr lang="en-US" sz="1300" dirty="0"/>
          </a:p>
        </p:txBody>
      </p:sp>
      <p:sp>
        <p:nvSpPr>
          <p:cNvPr id="44" name="Página Métricas y metas"/>
          <p:cNvSpPr txBox="1"/>
          <p:nvPr/>
        </p:nvSpPr>
        <p:spPr>
          <a:xfrm>
            <a:off x="2011680" y="4096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11</a:t>
            </a:r>
            <a:endParaRPr lang="en-US" sz="1200" dirty="0"/>
          </a:p>
        </p:txBody>
      </p:sp>
      <p:pic>
        <p:nvPicPr>
          <p:cNvPr id="45" name="Enlace Ir a Métricas y metas" descr="">
            <a:hlinkClick r:id="rId18" tooltip="Ir a Métricas y metas" action="ppaction://hlinksldjump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8640" y="3840480"/>
            <a:ext cx="2057400" cy="2057400"/>
          </a:xfrm>
          <a:prstGeom prst="rect">
            <a:avLst/>
          </a:prstGeom>
        </p:spPr>
      </p:pic>
      <p:sp>
        <p:nvSpPr>
          <p:cNvPr id="46" name="Tarjeta Hallazgos"/>
          <p:cNvSpPr/>
          <p:nvPr/>
        </p:nvSpPr>
        <p:spPr>
          <a:xfrm>
            <a:off x="2788920" y="3840480"/>
            <a:ext cx="2057400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47" name="Círculo FaLightbulb"/>
          <p:cNvSpPr/>
          <p:nvPr/>
        </p:nvSpPr>
        <p:spPr>
          <a:xfrm>
            <a:off x="3017520" y="4096512"/>
            <a:ext cx="640080" cy="640080"/>
          </a:xfrm>
          <a:prstGeom prst="ellipse">
            <a:avLst/>
          </a:prstGeom>
          <a:solidFill>
            <a:srgbClr val="6B3FD4"/>
          </a:solidFill>
          <a:ln w="12700">
            <a:solidFill>
              <a:srgbClr val="6B3FD4"/>
            </a:solidFill>
            <a:prstDash val="solid"/>
          </a:ln>
        </p:spPr>
      </p:sp>
      <p:pic>
        <p:nvPicPr>
          <p:cNvPr id="48" name="Ícono FaLightbulb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171139" y="4250131"/>
            <a:ext cx="332842" cy="332842"/>
          </a:xfrm>
          <a:prstGeom prst="rect">
            <a:avLst/>
          </a:prstGeom>
        </p:spPr>
      </p:pic>
      <p:sp>
        <p:nvSpPr>
          <p:cNvPr id="49" name="Título Hallazgos"/>
          <p:cNvSpPr txBox="1"/>
          <p:nvPr/>
        </p:nvSpPr>
        <p:spPr>
          <a:xfrm>
            <a:off x="3017520" y="4846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</a:t>
            </a:r>
            <a:endParaRPr lang="en-US" sz="1700" dirty="0"/>
          </a:p>
        </p:txBody>
      </p:sp>
      <p:sp>
        <p:nvSpPr>
          <p:cNvPr id="50" name="Detalle Hallazgos"/>
          <p:cNvSpPr txBox="1"/>
          <p:nvPr/>
        </p:nvSpPr>
        <p:spPr>
          <a:xfrm>
            <a:off x="3017520" y="5257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 más importante</a:t>
            </a:r>
            <a:endParaRPr lang="en-US" sz="1300" dirty="0"/>
          </a:p>
        </p:txBody>
      </p:sp>
      <p:sp>
        <p:nvSpPr>
          <p:cNvPr id="51" name="Página Hallazgos"/>
          <p:cNvSpPr txBox="1"/>
          <p:nvPr/>
        </p:nvSpPr>
        <p:spPr>
          <a:xfrm>
            <a:off x="4251960" y="4096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12</a:t>
            </a:r>
            <a:endParaRPr lang="en-US" sz="1200" dirty="0"/>
          </a:p>
        </p:txBody>
      </p:sp>
      <p:pic>
        <p:nvPicPr>
          <p:cNvPr id="52" name="Enlace Ir a Hallazgos" descr="">
            <a:hlinkClick r:id="rId21" tooltip="Ir a Hallazgos" action="ppaction://hlinksldjump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88920" y="3840480"/>
            <a:ext cx="2057400" cy="2057400"/>
          </a:xfrm>
          <a:prstGeom prst="rect">
            <a:avLst/>
          </a:prstGeom>
        </p:spPr>
      </p:pic>
      <p:sp>
        <p:nvSpPr>
          <p:cNvPr id="53" name="Tarjeta Simulador"/>
          <p:cNvSpPr/>
          <p:nvPr/>
        </p:nvSpPr>
        <p:spPr>
          <a:xfrm>
            <a:off x="5029200" y="3840480"/>
            <a:ext cx="2057400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54" name="Círculo FaSchool"/>
          <p:cNvSpPr/>
          <p:nvPr/>
        </p:nvSpPr>
        <p:spPr>
          <a:xfrm>
            <a:off x="5257800" y="4096512"/>
            <a:ext cx="640080" cy="640080"/>
          </a:xfrm>
          <a:prstGeom prst="ellipse">
            <a:avLst/>
          </a:prstGeom>
          <a:solidFill>
            <a:srgbClr val="EE6FB0"/>
          </a:solidFill>
          <a:ln w="12700">
            <a:solidFill>
              <a:srgbClr val="EE6FB0"/>
            </a:solidFill>
            <a:prstDash val="solid"/>
          </a:ln>
        </p:spPr>
      </p:sp>
      <p:pic>
        <p:nvPicPr>
          <p:cNvPr id="55" name="Ícono FaSchool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11419" y="4250131"/>
            <a:ext cx="332842" cy="332842"/>
          </a:xfrm>
          <a:prstGeom prst="rect">
            <a:avLst/>
          </a:prstGeom>
        </p:spPr>
      </p:pic>
      <p:sp>
        <p:nvSpPr>
          <p:cNvPr id="56" name="Título Simulador"/>
          <p:cNvSpPr txBox="1"/>
          <p:nvPr/>
        </p:nvSpPr>
        <p:spPr>
          <a:xfrm>
            <a:off x="5257800" y="4846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Simulador</a:t>
            </a:r>
            <a:endParaRPr lang="en-US" sz="1700" dirty="0"/>
          </a:p>
        </p:txBody>
      </p:sp>
      <p:sp>
        <p:nvSpPr>
          <p:cNvPr id="57" name="Detalle Simulador"/>
          <p:cNvSpPr txBox="1"/>
          <p:nvPr/>
        </p:nvSpPr>
        <p:spPr>
          <a:xfrm>
            <a:off x="5257800" y="5257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Matronas en colegios</a:t>
            </a:r>
            <a:endParaRPr lang="en-US" sz="1300" dirty="0"/>
          </a:p>
        </p:txBody>
      </p:sp>
      <p:sp>
        <p:nvSpPr>
          <p:cNvPr id="58" name="Página Simulador"/>
          <p:cNvSpPr txBox="1"/>
          <p:nvPr/>
        </p:nvSpPr>
        <p:spPr>
          <a:xfrm>
            <a:off x="6492240" y="4096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13</a:t>
            </a:r>
            <a:endParaRPr lang="en-US" sz="1200" dirty="0"/>
          </a:p>
        </p:txBody>
      </p:sp>
      <p:pic>
        <p:nvPicPr>
          <p:cNvPr id="59" name="Enlace Ir a Simulador" descr="">
            <a:hlinkClick r:id="rId24" tooltip="Ir a Simulador" action="ppaction://hlinksldjump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29200" y="3840480"/>
            <a:ext cx="2057400" cy="2057400"/>
          </a:xfrm>
          <a:prstGeom prst="rect">
            <a:avLst/>
          </a:prstGeom>
        </p:spPr>
      </p:pic>
      <p:sp>
        <p:nvSpPr>
          <p:cNvPr id="60" name="Tarjeta Medidas a tomar"/>
          <p:cNvSpPr/>
          <p:nvPr/>
        </p:nvSpPr>
        <p:spPr>
          <a:xfrm>
            <a:off x="7269480" y="3840480"/>
            <a:ext cx="2057400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61" name="Círculo FaListCheck"/>
          <p:cNvSpPr/>
          <p:nvPr/>
        </p:nvSpPr>
        <p:spPr>
          <a:xfrm>
            <a:off x="7498080" y="4096512"/>
            <a:ext cx="640080" cy="640080"/>
          </a:xfrm>
          <a:prstGeom prst="ellipse">
            <a:avLst/>
          </a:prstGeom>
          <a:solidFill>
            <a:srgbClr val="6B3FD4"/>
          </a:solidFill>
          <a:ln w="12700">
            <a:solidFill>
              <a:srgbClr val="6B3FD4"/>
            </a:solidFill>
            <a:prstDash val="solid"/>
          </a:ln>
        </p:spPr>
      </p:sp>
      <p:pic>
        <p:nvPicPr>
          <p:cNvPr id="62" name="Ícono FaListCheck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51699" y="4250131"/>
            <a:ext cx="332842" cy="332842"/>
          </a:xfrm>
          <a:prstGeom prst="rect">
            <a:avLst/>
          </a:prstGeom>
        </p:spPr>
      </p:pic>
      <p:sp>
        <p:nvSpPr>
          <p:cNvPr id="63" name="Título Medidas a tomar"/>
          <p:cNvSpPr txBox="1"/>
          <p:nvPr/>
        </p:nvSpPr>
        <p:spPr>
          <a:xfrm>
            <a:off x="7498080" y="4846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Medidas a tomar</a:t>
            </a:r>
            <a:endParaRPr lang="en-US" sz="1700" dirty="0"/>
          </a:p>
        </p:txBody>
      </p:sp>
      <p:sp>
        <p:nvSpPr>
          <p:cNvPr id="64" name="Detalle Medidas a tomar"/>
          <p:cNvSpPr txBox="1"/>
          <p:nvPr/>
        </p:nvSpPr>
        <p:spPr>
          <a:xfrm>
            <a:off x="7498080" y="5257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Qué haría la diferencia</a:t>
            </a:r>
            <a:endParaRPr lang="en-US" sz="1300" dirty="0"/>
          </a:p>
        </p:txBody>
      </p:sp>
      <p:sp>
        <p:nvSpPr>
          <p:cNvPr id="65" name="Página Medidas a tomar"/>
          <p:cNvSpPr txBox="1"/>
          <p:nvPr/>
        </p:nvSpPr>
        <p:spPr>
          <a:xfrm>
            <a:off x="8732520" y="4096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14</a:t>
            </a:r>
            <a:endParaRPr lang="en-US" sz="1200" dirty="0"/>
          </a:p>
        </p:txBody>
      </p:sp>
      <p:pic>
        <p:nvPicPr>
          <p:cNvPr id="66" name="Enlace Ir a Medidas a tomar" descr="">
            <a:hlinkClick r:id="rId27" tooltip="Ir a Medidas a tomar" action="ppaction://hlinksldjump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69480" y="3840480"/>
            <a:ext cx="2057400" cy="2057400"/>
          </a:xfrm>
          <a:prstGeom prst="rect">
            <a:avLst/>
          </a:prstGeom>
        </p:spPr>
      </p:pic>
      <p:sp>
        <p:nvSpPr>
          <p:cNvPr id="67" name="Tarjeta Conclusiones"/>
          <p:cNvSpPr/>
          <p:nvPr/>
        </p:nvSpPr>
        <p:spPr>
          <a:xfrm>
            <a:off x="9509760" y="3840480"/>
            <a:ext cx="2057400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68" name="Círculo FaFlagCheckered"/>
          <p:cNvSpPr/>
          <p:nvPr/>
        </p:nvSpPr>
        <p:spPr>
          <a:xfrm>
            <a:off x="9738360" y="4096512"/>
            <a:ext cx="640080" cy="640080"/>
          </a:xfrm>
          <a:prstGeom prst="ellipse">
            <a:avLst/>
          </a:prstGeom>
          <a:solidFill>
            <a:srgbClr val="EE6FB0"/>
          </a:solidFill>
          <a:ln w="12700">
            <a:solidFill>
              <a:srgbClr val="EE6FB0"/>
            </a:solidFill>
            <a:prstDash val="solid"/>
          </a:ln>
        </p:spPr>
      </p:sp>
      <p:pic>
        <p:nvPicPr>
          <p:cNvPr id="69" name="Ícono FaFlagCheckered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91979" y="4250131"/>
            <a:ext cx="332842" cy="332842"/>
          </a:xfrm>
          <a:prstGeom prst="rect">
            <a:avLst/>
          </a:prstGeom>
        </p:spPr>
      </p:pic>
      <p:sp>
        <p:nvSpPr>
          <p:cNvPr id="70" name="Título Conclusiones"/>
          <p:cNvSpPr txBox="1"/>
          <p:nvPr/>
        </p:nvSpPr>
        <p:spPr>
          <a:xfrm>
            <a:off x="9738360" y="4846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1700" dirty="0"/>
          </a:p>
        </p:txBody>
      </p:sp>
      <p:sp>
        <p:nvSpPr>
          <p:cNvPr id="71" name="Detalle Conclusiones"/>
          <p:cNvSpPr txBox="1"/>
          <p:nvPr/>
        </p:nvSpPr>
        <p:spPr>
          <a:xfrm>
            <a:off x="9738360" y="5257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Cuatro ideas clave</a:t>
            </a:r>
            <a:endParaRPr lang="en-US" sz="1300" dirty="0"/>
          </a:p>
        </p:txBody>
      </p:sp>
      <p:sp>
        <p:nvSpPr>
          <p:cNvPr id="72" name="Página Conclusiones"/>
          <p:cNvSpPr txBox="1"/>
          <p:nvPr/>
        </p:nvSpPr>
        <p:spPr>
          <a:xfrm>
            <a:off x="10972800" y="4096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15</a:t>
            </a:r>
            <a:endParaRPr lang="en-US" sz="1200" dirty="0"/>
          </a:p>
        </p:txBody>
      </p:sp>
      <p:pic>
        <p:nvPicPr>
          <p:cNvPr id="73" name="Enlace Ir a Conclusiones" descr="">
            <a:hlinkClick r:id="rId30" tooltip="Ir a Conclusiones" action="ppaction://hlinksldjump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509760" y="3840480"/>
            <a:ext cx="2057400" cy="2057400"/>
          </a:xfrm>
          <a:prstGeom prst="rect">
            <a:avLst/>
          </a:prstGeom>
        </p:spPr>
      </p:pic>
      <p:sp>
        <p:nvSpPr>
          <p:cNvPr id="74" name="Botón índice"/>
          <p:cNvSpPr/>
          <p:nvPr/>
        </p:nvSpPr>
        <p:spPr>
          <a:xfrm>
            <a:off x="502920" y="6400800"/>
            <a:ext cx="123444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5" name="Ícono índice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3504" y="6464808"/>
            <a:ext cx="201168" cy="201168"/>
          </a:xfrm>
          <a:prstGeom prst="rect">
            <a:avLst/>
          </a:prstGeom>
        </p:spPr>
      </p:pic>
      <p:sp>
        <p:nvSpPr>
          <p:cNvPr id="76" name="Texto índice"/>
          <p:cNvSpPr txBox="1"/>
          <p:nvPr/>
        </p:nvSpPr>
        <p:spPr>
          <a:xfrm>
            <a:off x="850392" y="6400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Índice</a:t>
            </a:r>
            <a:endParaRPr lang="en-US" sz="1100" dirty="0"/>
          </a:p>
        </p:txBody>
      </p:sp>
      <p:pic>
        <p:nvPicPr>
          <p:cNvPr id="77" name="Enlace índice" descr="">
            <a:hlinkClick r:id="rId33" tooltip="Volver al índice" action="ppaction://hlinksldjump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2920" y="6400800"/>
            <a:ext cx="12344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tableros, una mirada de matrona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3268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tablero existe en Power BI y en Tableau con las mismas páginas; clic en la imagen para abrirlo</a:t>
            </a:r>
            <a:endParaRPr lang="en-US" sz="1500" dirty="0"/>
          </a:p>
        </p:txBody>
      </p:sp>
      <p:sp>
        <p:nvSpPr>
          <p:cNvPr id="4" name="Tarjeta Anticonceptivos"/>
          <p:cNvSpPr/>
          <p:nvPr/>
        </p:nvSpPr>
        <p:spPr>
          <a:xfrm>
            <a:off x="548640" y="1600200"/>
            <a:ext cx="2075688" cy="4343400"/>
          </a:xfrm>
          <a:prstGeom prst="roundRect">
            <a:avLst>
              <a:gd name="adj" fmla="val 6167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pic>
        <p:nvPicPr>
          <p:cNvPr id="5" name="Miniatura Anticonceptivos" descr="Tablero Anticonceptivos">
            <a:hlinkClick r:id="rId2" tooltip="Abrir Anticonceptivos en GitHu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09928"/>
            <a:ext cx="1856232" cy="1044131"/>
          </a:xfrm>
          <a:prstGeom prst="rect">
            <a:avLst/>
          </a:prstGeom>
        </p:spPr>
      </p:pic>
      <p:sp>
        <p:nvSpPr>
          <p:cNvPr id="6" name="Círculo FaPills"/>
          <p:cNvSpPr/>
          <p:nvPr/>
        </p:nvSpPr>
        <p:spPr>
          <a:xfrm>
            <a:off x="685800" y="2926080"/>
            <a:ext cx="548640" cy="548640"/>
          </a:xfrm>
          <a:prstGeom prst="ellipse">
            <a:avLst/>
          </a:prstGeom>
          <a:solidFill>
            <a:srgbClr val="6B3FD4"/>
          </a:solidFill>
          <a:ln w="12700">
            <a:solidFill>
              <a:srgbClr val="6B3FD4"/>
            </a:solidFill>
            <a:prstDash val="solid"/>
          </a:ln>
        </p:spPr>
      </p:sp>
      <p:pic>
        <p:nvPicPr>
          <p:cNvPr id="7" name="Ícono FaPill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3057754"/>
            <a:ext cx="285293" cy="285293"/>
          </a:xfrm>
          <a:prstGeom prst="rect">
            <a:avLst/>
          </a:prstGeom>
        </p:spPr>
      </p:pic>
      <p:sp>
        <p:nvSpPr>
          <p:cNvPr id="8" name="Nombre Anticonceptivos"/>
          <p:cNvSpPr txBox="1"/>
          <p:nvPr/>
        </p:nvSpPr>
        <p:spPr>
          <a:xfrm>
            <a:off x="685800" y="3566160"/>
            <a:ext cx="1801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Anticonceptivos</a:t>
            </a:r>
            <a:endParaRPr lang="en-US" sz="1700" dirty="0"/>
          </a:p>
        </p:txBody>
      </p:sp>
      <p:sp>
        <p:nvSpPr>
          <p:cNvPr id="9" name="Pregunta Anticonceptivos"/>
          <p:cNvSpPr txBox="1"/>
          <p:nvPr/>
        </p:nvSpPr>
        <p:spPr>
          <a:xfrm>
            <a:off x="685800" y="4251960"/>
            <a:ext cx="180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¿Qué método me sirve y qué tan eficaz es?</a:t>
            </a:r>
            <a:endParaRPr lang="en-US" sz="1400" dirty="0"/>
          </a:p>
        </p:txBody>
      </p:sp>
      <p:sp>
        <p:nvSpPr>
          <p:cNvPr id="10" name="Enlace Anticonceptivos"/>
          <p:cNvSpPr txBox="1"/>
          <p:nvPr/>
        </p:nvSpPr>
        <p:spPr>
          <a:xfrm>
            <a:off x="685800" y="54406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chemeClr val="accent2"/>
                </a:solidFill>
                <a:hlinkClick r:id="rId4" invalidUrl="" action="" tgtFrame="" tooltip="Abrir en GitHu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tablero</a:t>
            </a:r>
            <a:endParaRPr lang="en-US" sz="1300" dirty="0"/>
          </a:p>
        </p:txBody>
      </p:sp>
      <p:sp>
        <p:nvSpPr>
          <p:cNvPr id="11" name="Tarjeta ITS en Chile"/>
          <p:cNvSpPr/>
          <p:nvPr/>
        </p:nvSpPr>
        <p:spPr>
          <a:xfrm>
            <a:off x="2807208" y="1600200"/>
            <a:ext cx="2075688" cy="4343400"/>
          </a:xfrm>
          <a:prstGeom prst="roundRect">
            <a:avLst>
              <a:gd name="adj" fmla="val 6167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pic>
        <p:nvPicPr>
          <p:cNvPr id="12" name="Miniatura ITS en Chile" descr="Tablero ITS en Chile">
            <a:hlinkClick r:id="rId6" tooltip="Abrir ITS en Chile en GitHub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6936" y="1709928"/>
            <a:ext cx="1856232" cy="1044131"/>
          </a:xfrm>
          <a:prstGeom prst="rect">
            <a:avLst/>
          </a:prstGeom>
        </p:spPr>
      </p:pic>
      <p:sp>
        <p:nvSpPr>
          <p:cNvPr id="13" name="Círculo FaVirus"/>
          <p:cNvSpPr/>
          <p:nvPr/>
        </p:nvSpPr>
        <p:spPr>
          <a:xfrm>
            <a:off x="2944368" y="2926080"/>
            <a:ext cx="548640" cy="548640"/>
          </a:xfrm>
          <a:prstGeom prst="ellipse">
            <a:avLst/>
          </a:prstGeom>
          <a:solidFill>
            <a:srgbClr val="EE6FB0"/>
          </a:solidFill>
          <a:ln w="12700">
            <a:solidFill>
              <a:srgbClr val="EE6FB0"/>
            </a:solidFill>
            <a:prstDash val="solid"/>
          </a:ln>
        </p:spPr>
      </p:sp>
      <p:pic>
        <p:nvPicPr>
          <p:cNvPr id="14" name="Ícono FaVirus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6042" y="3057754"/>
            <a:ext cx="285293" cy="285293"/>
          </a:xfrm>
          <a:prstGeom prst="rect">
            <a:avLst/>
          </a:prstGeom>
        </p:spPr>
      </p:pic>
      <p:sp>
        <p:nvSpPr>
          <p:cNvPr id="15" name="Nombre ITS en Chile"/>
          <p:cNvSpPr txBox="1"/>
          <p:nvPr/>
        </p:nvSpPr>
        <p:spPr>
          <a:xfrm>
            <a:off x="2944368" y="3566160"/>
            <a:ext cx="1801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 en Chile</a:t>
            </a:r>
            <a:endParaRPr lang="en-US" sz="1700" dirty="0"/>
          </a:p>
        </p:txBody>
      </p:sp>
      <p:sp>
        <p:nvSpPr>
          <p:cNvPr id="16" name="Pregunta ITS en Chile"/>
          <p:cNvSpPr txBox="1"/>
          <p:nvPr/>
        </p:nvSpPr>
        <p:spPr>
          <a:xfrm>
            <a:off x="2944368" y="4251960"/>
            <a:ext cx="180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¿Están aumentando y cómo se previenen?</a:t>
            </a:r>
            <a:endParaRPr lang="en-US" sz="1400" dirty="0"/>
          </a:p>
        </p:txBody>
      </p:sp>
      <p:sp>
        <p:nvSpPr>
          <p:cNvPr id="17" name="Enlace ITS en Chile"/>
          <p:cNvSpPr txBox="1"/>
          <p:nvPr/>
        </p:nvSpPr>
        <p:spPr>
          <a:xfrm>
            <a:off x="2944368" y="54406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chemeClr val="accent2"/>
                </a:solidFill>
                <a:hlinkClick r:id="rId8" invalidUrl="" action="" tgtFrame="" tooltip="Abrir en GitHu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tablero</a:t>
            </a:r>
            <a:endParaRPr lang="en-US" sz="1300" dirty="0"/>
          </a:p>
        </p:txBody>
      </p:sp>
      <p:sp>
        <p:nvSpPr>
          <p:cNvPr id="18" name="Tarjeta Embarazo y matronería"/>
          <p:cNvSpPr/>
          <p:nvPr/>
        </p:nvSpPr>
        <p:spPr>
          <a:xfrm>
            <a:off x="5065776" y="1600200"/>
            <a:ext cx="2075688" cy="4343400"/>
          </a:xfrm>
          <a:prstGeom prst="roundRect">
            <a:avLst>
              <a:gd name="adj" fmla="val 6167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pic>
        <p:nvPicPr>
          <p:cNvPr id="19" name="Miniatura Embarazo y matronería" descr="Tablero Embarazo y matronería">
            <a:hlinkClick r:id="rId10" tooltip="Abrir Embarazo y matronería en GitHub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5504" y="1709928"/>
            <a:ext cx="1856232" cy="1044131"/>
          </a:xfrm>
          <a:prstGeom prst="rect">
            <a:avLst/>
          </a:prstGeom>
        </p:spPr>
      </p:pic>
      <p:sp>
        <p:nvSpPr>
          <p:cNvPr id="20" name="Círculo FaPersonPregnant"/>
          <p:cNvSpPr/>
          <p:nvPr/>
        </p:nvSpPr>
        <p:spPr>
          <a:xfrm>
            <a:off x="5202936" y="2926080"/>
            <a:ext cx="548640" cy="548640"/>
          </a:xfrm>
          <a:prstGeom prst="ellipse">
            <a:avLst/>
          </a:prstGeom>
          <a:solidFill>
            <a:srgbClr val="6B3FD4"/>
          </a:solidFill>
          <a:ln w="12700">
            <a:solidFill>
              <a:srgbClr val="6B3FD4"/>
            </a:solidFill>
            <a:prstDash val="solid"/>
          </a:ln>
        </p:spPr>
      </p:sp>
      <p:pic>
        <p:nvPicPr>
          <p:cNvPr id="21" name="Ícono FaPersonPregnant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610" y="3057754"/>
            <a:ext cx="285293" cy="285293"/>
          </a:xfrm>
          <a:prstGeom prst="rect">
            <a:avLst/>
          </a:prstGeom>
        </p:spPr>
      </p:pic>
      <p:sp>
        <p:nvSpPr>
          <p:cNvPr id="22" name="Nombre Embarazo y matronería"/>
          <p:cNvSpPr txBox="1"/>
          <p:nvPr/>
        </p:nvSpPr>
        <p:spPr>
          <a:xfrm>
            <a:off x="5202936" y="3566160"/>
            <a:ext cx="1801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Embarazo y matronería</a:t>
            </a:r>
            <a:endParaRPr lang="en-US" sz="1700" dirty="0"/>
          </a:p>
        </p:txBody>
      </p:sp>
      <p:sp>
        <p:nvSpPr>
          <p:cNvPr id="23" name="Pregunta Embarazo y matronería"/>
          <p:cNvSpPr txBox="1"/>
          <p:nvPr/>
        </p:nvSpPr>
        <p:spPr>
          <a:xfrm>
            <a:off x="5202936" y="4251960"/>
            <a:ext cx="180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¿Qué pasa con el embarazo adolescente?</a:t>
            </a:r>
            <a:endParaRPr lang="en-US" sz="1400" dirty="0"/>
          </a:p>
        </p:txBody>
      </p:sp>
      <p:sp>
        <p:nvSpPr>
          <p:cNvPr id="24" name="Enlace Embarazo y matronería"/>
          <p:cNvSpPr txBox="1"/>
          <p:nvPr/>
        </p:nvSpPr>
        <p:spPr>
          <a:xfrm>
            <a:off x="5202936" y="54406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chemeClr val="accent2"/>
                </a:solidFill>
                <a:hlinkClick r:id="rId12" invalidUrl="" action="" tgtFrame="" tooltip="Abrir en GitHu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tablero</a:t>
            </a:r>
            <a:endParaRPr lang="en-US" sz="1300" dirty="0"/>
          </a:p>
        </p:txBody>
      </p:sp>
      <p:sp>
        <p:nvSpPr>
          <p:cNvPr id="25" name="Tarjeta Ajuar del recién nacido"/>
          <p:cNvSpPr/>
          <p:nvPr/>
        </p:nvSpPr>
        <p:spPr>
          <a:xfrm>
            <a:off x="7324344" y="1600200"/>
            <a:ext cx="2075688" cy="4343400"/>
          </a:xfrm>
          <a:prstGeom prst="roundRect">
            <a:avLst>
              <a:gd name="adj" fmla="val 6167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pic>
        <p:nvPicPr>
          <p:cNvPr id="26" name="Miniatura Ajuar del recién nacido" descr="Tablero Ajuar del recién nacido">
            <a:hlinkClick r:id="rId14" tooltip="Abrir Ajuar del recién nacido en GitHub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34072" y="1709928"/>
            <a:ext cx="1856232" cy="1044131"/>
          </a:xfrm>
          <a:prstGeom prst="rect">
            <a:avLst/>
          </a:prstGeom>
        </p:spPr>
      </p:pic>
      <p:sp>
        <p:nvSpPr>
          <p:cNvPr id="27" name="Círculo FaBaby"/>
          <p:cNvSpPr/>
          <p:nvPr/>
        </p:nvSpPr>
        <p:spPr>
          <a:xfrm>
            <a:off x="7461504" y="2926080"/>
            <a:ext cx="548640" cy="548640"/>
          </a:xfrm>
          <a:prstGeom prst="ellipse">
            <a:avLst/>
          </a:prstGeom>
          <a:solidFill>
            <a:srgbClr val="EE6FB0"/>
          </a:solidFill>
          <a:ln w="12700">
            <a:solidFill>
              <a:srgbClr val="EE6FB0"/>
            </a:solidFill>
            <a:prstDash val="solid"/>
          </a:ln>
        </p:spPr>
      </p:sp>
      <p:pic>
        <p:nvPicPr>
          <p:cNvPr id="28" name="Ícono FaBaby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93178" y="3057754"/>
            <a:ext cx="285293" cy="285293"/>
          </a:xfrm>
          <a:prstGeom prst="rect">
            <a:avLst/>
          </a:prstGeom>
        </p:spPr>
      </p:pic>
      <p:sp>
        <p:nvSpPr>
          <p:cNvPr id="29" name="Nombre Ajuar del recién nacido"/>
          <p:cNvSpPr txBox="1"/>
          <p:nvPr/>
        </p:nvSpPr>
        <p:spPr>
          <a:xfrm>
            <a:off x="7461504" y="3566160"/>
            <a:ext cx="1801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Ajuar del recién nacido</a:t>
            </a:r>
            <a:endParaRPr lang="en-US" sz="1700" dirty="0"/>
          </a:p>
        </p:txBody>
      </p:sp>
      <p:sp>
        <p:nvSpPr>
          <p:cNvPr id="30" name="Pregunta Ajuar del recién nacido"/>
          <p:cNvSpPr txBox="1"/>
          <p:nvPr/>
        </p:nvSpPr>
        <p:spPr>
          <a:xfrm>
            <a:off x="7461504" y="4251960"/>
            <a:ext cx="180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¿Llega a todas las guaguas?</a:t>
            </a:r>
            <a:endParaRPr lang="en-US" sz="1400" dirty="0"/>
          </a:p>
        </p:txBody>
      </p:sp>
      <p:sp>
        <p:nvSpPr>
          <p:cNvPr id="31" name="Enlace Ajuar del recién nacido"/>
          <p:cNvSpPr txBox="1"/>
          <p:nvPr/>
        </p:nvSpPr>
        <p:spPr>
          <a:xfrm>
            <a:off x="7461504" y="54406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chemeClr val="accent2"/>
                </a:solidFill>
                <a:hlinkClick r:id="rId16" invalidUrl="" action="" tgtFrame="" tooltip="Abrir en GitHu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tablero</a:t>
            </a:r>
            <a:endParaRPr lang="en-US" sz="1300" dirty="0"/>
          </a:p>
        </p:txBody>
      </p:sp>
      <p:sp>
        <p:nvSpPr>
          <p:cNvPr id="32" name="Tarjeta Cáncer en Chile"/>
          <p:cNvSpPr/>
          <p:nvPr/>
        </p:nvSpPr>
        <p:spPr>
          <a:xfrm>
            <a:off x="9582912" y="1600200"/>
            <a:ext cx="2075688" cy="4343400"/>
          </a:xfrm>
          <a:prstGeom prst="roundRect">
            <a:avLst>
              <a:gd name="adj" fmla="val 6167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pic>
        <p:nvPicPr>
          <p:cNvPr id="33" name="Miniatura Cáncer en Chile" descr="Tablero Cáncer en Chile">
            <a:hlinkClick r:id="rId18" tooltip="Abrir Cáncer en Chile en GitHub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92640" y="1709928"/>
            <a:ext cx="1856232" cy="1044131"/>
          </a:xfrm>
          <a:prstGeom prst="rect">
            <a:avLst/>
          </a:prstGeom>
        </p:spPr>
      </p:pic>
      <p:sp>
        <p:nvSpPr>
          <p:cNvPr id="34" name="Círculo FaRibbon"/>
          <p:cNvSpPr/>
          <p:nvPr/>
        </p:nvSpPr>
        <p:spPr>
          <a:xfrm>
            <a:off x="9720072" y="2926080"/>
            <a:ext cx="548640" cy="548640"/>
          </a:xfrm>
          <a:prstGeom prst="ellipse">
            <a:avLst/>
          </a:prstGeom>
          <a:solidFill>
            <a:srgbClr val="6B3FD4"/>
          </a:solidFill>
          <a:ln w="12700">
            <a:solidFill>
              <a:srgbClr val="6B3FD4"/>
            </a:solidFill>
            <a:prstDash val="solid"/>
          </a:ln>
        </p:spPr>
      </p:sp>
      <p:pic>
        <p:nvPicPr>
          <p:cNvPr id="35" name="Ícono FaRibbon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51746" y="3057754"/>
            <a:ext cx="285293" cy="285293"/>
          </a:xfrm>
          <a:prstGeom prst="rect">
            <a:avLst/>
          </a:prstGeom>
        </p:spPr>
      </p:pic>
      <p:sp>
        <p:nvSpPr>
          <p:cNvPr id="36" name="Nombre Cáncer en Chile"/>
          <p:cNvSpPr txBox="1"/>
          <p:nvPr/>
        </p:nvSpPr>
        <p:spPr>
          <a:xfrm>
            <a:off x="9720072" y="3566160"/>
            <a:ext cx="1801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Cáncer en Chile</a:t>
            </a:r>
            <a:endParaRPr lang="en-US" sz="1700" dirty="0"/>
          </a:p>
        </p:txBody>
      </p:sp>
      <p:sp>
        <p:nvSpPr>
          <p:cNvPr id="37" name="Pregunta Cáncer en Chile"/>
          <p:cNvSpPr txBox="1"/>
          <p:nvPr/>
        </p:nvSpPr>
        <p:spPr>
          <a:xfrm>
            <a:off x="9720072" y="4251960"/>
            <a:ext cx="180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¿Cuánto aumenta y cómo le ganamos?</a:t>
            </a:r>
            <a:endParaRPr lang="en-US" sz="1400" dirty="0"/>
          </a:p>
        </p:txBody>
      </p:sp>
      <p:sp>
        <p:nvSpPr>
          <p:cNvPr id="38" name="Enlace Cáncer en Chile"/>
          <p:cNvSpPr txBox="1"/>
          <p:nvPr/>
        </p:nvSpPr>
        <p:spPr>
          <a:xfrm>
            <a:off x="9720072" y="54406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chemeClr val="accent2"/>
                </a:solidFill>
                <a:hlinkClick r:id="rId20" invalidUrl="" action="" tgtFrame="" tooltip="Abrir en GitHu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tablero</a:t>
            </a:r>
            <a:endParaRPr lang="en-US" sz="1300" dirty="0"/>
          </a:p>
        </p:txBody>
      </p:sp>
      <p:sp>
        <p:nvSpPr>
          <p:cNvPr id="39" name="Botón índice"/>
          <p:cNvSpPr/>
          <p:nvPr/>
        </p:nvSpPr>
        <p:spPr>
          <a:xfrm>
            <a:off x="502920" y="6400800"/>
            <a:ext cx="123444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Ícono índice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3504" y="6464808"/>
            <a:ext cx="201168" cy="201168"/>
          </a:xfrm>
          <a:prstGeom prst="rect">
            <a:avLst/>
          </a:prstGeom>
        </p:spPr>
      </p:pic>
      <p:sp>
        <p:nvSpPr>
          <p:cNvPr id="41" name="Texto índice"/>
          <p:cNvSpPr txBox="1"/>
          <p:nvPr/>
        </p:nvSpPr>
        <p:spPr>
          <a:xfrm>
            <a:off x="850392" y="6400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Índice</a:t>
            </a:r>
            <a:endParaRPr lang="en-US" sz="1100" dirty="0"/>
          </a:p>
        </p:txBody>
      </p:sp>
      <p:pic>
        <p:nvPicPr>
          <p:cNvPr id="42" name="Enlace índice" descr="">
            <a:hlinkClick r:id="rId23" tooltip="Volver al índice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2920" y="6400800"/>
            <a:ext cx="1234440" cy="329184"/>
          </a:xfrm>
          <a:prstGeom prst="rect">
            <a:avLst/>
          </a:prstGeom>
        </p:spPr>
      </p:pic>
      <p:sp>
        <p:nvSpPr>
          <p:cNvPr id="43" name="Cómo abrir"/>
          <p:cNvSpPr txBox="1"/>
          <p:nvPr/>
        </p:nvSpPr>
        <p:spPr>
          <a:xfrm>
            <a:off x="1920240" y="603504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Power BI Desktop (gratis) abre el .pbix; Tableau Public abre el .twbx, que ya trae los datos.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y ahora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3268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año analizado frente al último dato disponible, un indicador por tema</a:t>
            </a:r>
            <a:endParaRPr lang="en-US" sz="1500" dirty="0"/>
          </a:p>
        </p:txBody>
      </p:sp>
      <p:graphicFrame>
        <p:nvGraphicFramePr>
          <p:cNvPr id="5" name="Tabla antes y ahor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5039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063240"/>
                <a:gridCol w="1325880"/>
                <a:gridCol w="1325880"/>
                <a:gridCol w="914400"/>
                <a:gridCol w="457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D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Sífilis (tasa por 100 mil)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33,6 · 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55,2 ·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946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Gonorrea (tasa por 100 mil)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 · 2021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13,3 ·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946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2,5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VIH confirmados al año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6.948 · 2018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4.313 ·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Embarazo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Fecundidad de 15 a 19 años (por mil)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23,2 · 2018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 ·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Anticonceptivos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Usó un método en su primera relación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77,5% · 2018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86,6% · 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Matronería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Matronas inscritas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13.723 · 2018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23.333 ·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entregados al año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141.883 · 2018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113.858 · 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Cáncer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Muertes por cáncer al año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26.866 · 2015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31.454 · 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946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Cáncer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Mortalidad cervicouterina (por 100 mil)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 · 1990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 · 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</a:tr>
            </a:tbl>
          </a:graphicData>
        </a:graphic>
      </p:graphicFrame>
      <p:pic>
        <p:nvPicPr>
          <p:cNvPr id="5" name="Flecha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2" y="2048256"/>
            <a:ext cx="237744" cy="237744"/>
          </a:xfrm>
          <a:prstGeom prst="rect">
            <a:avLst/>
          </a:prstGeom>
        </p:spPr>
      </p:pic>
      <p:pic>
        <p:nvPicPr>
          <p:cNvPr id="6" name="Flech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2487168"/>
            <a:ext cx="237744" cy="237744"/>
          </a:xfrm>
          <a:prstGeom prst="rect">
            <a:avLst/>
          </a:prstGeom>
        </p:spPr>
      </p:pic>
      <p:pic>
        <p:nvPicPr>
          <p:cNvPr id="7" name="Flecha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2926080"/>
            <a:ext cx="237744" cy="237744"/>
          </a:xfrm>
          <a:prstGeom prst="rect">
            <a:avLst/>
          </a:prstGeom>
        </p:spPr>
      </p:pic>
      <p:pic>
        <p:nvPicPr>
          <p:cNvPr id="8" name="Flecha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512" y="3364992"/>
            <a:ext cx="237744" cy="237744"/>
          </a:xfrm>
          <a:prstGeom prst="rect">
            <a:avLst/>
          </a:prstGeom>
        </p:spPr>
      </p:pic>
      <p:pic>
        <p:nvPicPr>
          <p:cNvPr id="9" name="Flecha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3803904"/>
            <a:ext cx="237744" cy="237744"/>
          </a:xfrm>
          <a:prstGeom prst="rect">
            <a:avLst/>
          </a:prstGeom>
        </p:spPr>
      </p:pic>
      <p:pic>
        <p:nvPicPr>
          <p:cNvPr id="10" name="Flecha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8512" y="4242816"/>
            <a:ext cx="237744" cy="237744"/>
          </a:xfrm>
          <a:prstGeom prst="rect">
            <a:avLst/>
          </a:prstGeom>
        </p:spPr>
      </p:pic>
      <p:pic>
        <p:nvPicPr>
          <p:cNvPr id="11" name="Flecha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8512" y="4681728"/>
            <a:ext cx="237744" cy="237744"/>
          </a:xfrm>
          <a:prstGeom prst="rect">
            <a:avLst/>
          </a:prstGeom>
        </p:spPr>
      </p:pic>
      <p:pic>
        <p:nvPicPr>
          <p:cNvPr id="12" name="Flecha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8512" y="5120640"/>
            <a:ext cx="237744" cy="237744"/>
          </a:xfrm>
          <a:prstGeom prst="rect">
            <a:avLst/>
          </a:prstGeom>
        </p:spPr>
      </p:pic>
      <p:pic>
        <p:nvPicPr>
          <p:cNvPr id="13" name="Flecha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8512" y="5559552"/>
            <a:ext cx="237744" cy="237744"/>
          </a:xfrm>
          <a:prstGeom prst="rect">
            <a:avLst/>
          </a:prstGeom>
        </p:spPr>
      </p:pic>
      <p:sp>
        <p:nvSpPr>
          <p:cNvPr id="14" name="Tarjeta lectura"/>
          <p:cNvSpPr/>
          <p:nvPr/>
        </p:nvSpPr>
        <p:spPr>
          <a:xfrm>
            <a:off x="9326880" y="1508760"/>
            <a:ext cx="2331720" cy="4389120"/>
          </a:xfrm>
          <a:prstGeom prst="roundRect">
            <a:avLst>
              <a:gd name="adj" fmla="val 5490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15" name="Texto lectura"/>
          <p:cNvSpPr txBox="1"/>
          <p:nvPr/>
        </p:nvSpPr>
        <p:spPr>
          <a:xfrm>
            <a:off x="9509760" y="1645920"/>
            <a:ext cx="2011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leerla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2E9A6E"/>
                </a:solidFill>
              </a:rPr>
              <a:t>Verde: cambio a favor de la salud.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D9467F"/>
                </a:solidFill>
              </a:rPr>
              <a:t>Rosado: cambio en contra.</a:t>
            </a:r>
            <a:endParaRPr lang="en-US" sz="13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300" dirty="0">
                <a:solidFill>
                  <a:srgbClr val="3A2E4A"/>
                </a:solidFill>
              </a:rPr>
              <a:t>Los sets del ajuar bajan porque nacen menos guaguas: la cobertura se mantiene en 97–99%.</a:t>
            </a:r>
            <a:endParaRPr lang="en-US" sz="13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300" dirty="0">
                <a:solidFill>
                  <a:srgbClr val="3A2E4A"/>
                </a:solidFill>
              </a:rPr>
              <a:t>Cada fila trae su fuente en la base de datos del tablero.</a:t>
            </a:r>
            <a:endParaRPr lang="en-US" sz="1300" dirty="0"/>
          </a:p>
        </p:txBody>
      </p:sp>
      <p:sp>
        <p:nvSpPr>
          <p:cNvPr id="16" name="Fuente"/>
          <p:cNvSpPr txBox="1"/>
          <p:nvPr/>
        </p:nvSpPr>
        <p:spPr>
          <a:xfrm>
            <a:off x="1920240" y="60533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Fuentes: MINSAL/DEIS, ISP, INE, INJUV, Superintendencia de Salud, Chile Crece Contigo, IARC/GLOBOCAN. 2024 y 2025 son datos provisionales.</a:t>
            </a:r>
            <a:endParaRPr lang="en-US" sz="1000" dirty="0"/>
          </a:p>
        </p:txBody>
      </p:sp>
      <p:sp>
        <p:nvSpPr>
          <p:cNvPr id="17" name="Botón índice"/>
          <p:cNvSpPr/>
          <p:nvPr/>
        </p:nvSpPr>
        <p:spPr>
          <a:xfrm>
            <a:off x="502920" y="6400800"/>
            <a:ext cx="123444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Ícono índice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504" y="6464808"/>
            <a:ext cx="201168" cy="201168"/>
          </a:xfrm>
          <a:prstGeom prst="rect">
            <a:avLst/>
          </a:prstGeom>
        </p:spPr>
      </p:pic>
      <p:sp>
        <p:nvSpPr>
          <p:cNvPr id="19" name="Texto índice"/>
          <p:cNvSpPr txBox="1"/>
          <p:nvPr/>
        </p:nvSpPr>
        <p:spPr>
          <a:xfrm>
            <a:off x="850392" y="6400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Índice</a:t>
            </a:r>
            <a:endParaRPr lang="en-US" sz="1100" dirty="0"/>
          </a:p>
        </p:txBody>
      </p:sp>
      <p:pic>
        <p:nvPicPr>
          <p:cNvPr id="20" name="Enlace índice" descr="">
            <a:hlinkClick r:id="rId12" tooltip="Volver al índice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" y="6400800"/>
            <a:ext cx="12344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ITS: la sífilis no para de subir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3268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por 100 mil habitantes: después de la pandemia el diagnóstico volvió y los casos siguieron subiendo</a:t>
            </a:r>
            <a:endParaRPr lang="en-US" sz="1500" dirty="0"/>
          </a:p>
        </p:txBody>
      </p:sp>
      <p:sp>
        <p:nvSpPr>
          <p:cNvPr id="4" name="Tarjeta gráfico ITS"/>
          <p:cNvSpPr/>
          <p:nvPr/>
        </p:nvSpPr>
        <p:spPr>
          <a:xfrm>
            <a:off x="548640" y="1508760"/>
            <a:ext cx="7315200" cy="4434840"/>
          </a:xfrm>
          <a:prstGeom prst="roundRect">
            <a:avLst>
              <a:gd name="adj" fmla="val 2887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graphicFrame>
        <p:nvGraphicFramePr>
          <p:cNvPr id="5" name="Gráfico sífilis" descr=""/>
          <p:cNvGraphicFramePr/>
          <p:nvPr/>
        </p:nvGraphicFramePr>
        <p:xfrm>
          <a:off x="731520" y="164592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Dato 11.155"/>
          <p:cNvSpPr/>
          <p:nvPr/>
        </p:nvSpPr>
        <p:spPr>
          <a:xfrm>
            <a:off x="8046720" y="1508760"/>
            <a:ext cx="361188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7" name="Cifra 11.155"/>
          <p:cNvSpPr txBox="1"/>
          <p:nvPr/>
        </p:nvSpPr>
        <p:spPr>
          <a:xfrm>
            <a:off x="8275320" y="16459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11.155</a:t>
            </a:r>
            <a:endParaRPr lang="en-US" sz="3400" dirty="0"/>
          </a:p>
        </p:txBody>
      </p:sp>
      <p:sp>
        <p:nvSpPr>
          <p:cNvPr id="8" name="Etiqueta 11.155"/>
          <p:cNvSpPr txBox="1"/>
          <p:nvPr/>
        </p:nvSpPr>
        <p:spPr>
          <a:xfrm>
            <a:off x="8275320" y="22860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casos de sífilis en 2025: la ITS más notificada</a:t>
            </a:r>
            <a:endParaRPr lang="en-US" sz="1300" dirty="0"/>
          </a:p>
        </p:txBody>
      </p:sp>
      <p:sp>
        <p:nvSpPr>
          <p:cNvPr id="9" name="Dato × 2,5"/>
          <p:cNvSpPr/>
          <p:nvPr/>
        </p:nvSpPr>
        <p:spPr>
          <a:xfrm>
            <a:off x="8046720" y="3044952"/>
            <a:ext cx="361188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10" name="Cifra × 2,5"/>
          <p:cNvSpPr txBox="1"/>
          <p:nvPr/>
        </p:nvSpPr>
        <p:spPr>
          <a:xfrm>
            <a:off x="8275320" y="318211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2,5</a:t>
            </a:r>
            <a:endParaRPr lang="en-US" sz="3400" dirty="0"/>
          </a:p>
        </p:txBody>
      </p:sp>
      <p:sp>
        <p:nvSpPr>
          <p:cNvPr id="11" name="Etiqueta × 2,5"/>
          <p:cNvSpPr txBox="1"/>
          <p:nvPr/>
        </p:nvSpPr>
        <p:spPr>
          <a:xfrm>
            <a:off x="8275320" y="3822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tasa de gonorrea desde 2021 (5,2 → 13,3)</a:t>
            </a:r>
            <a:endParaRPr lang="en-US" sz="1300" dirty="0"/>
          </a:p>
        </p:txBody>
      </p:sp>
      <p:sp>
        <p:nvSpPr>
          <p:cNvPr id="12" name="Dato 21.915"/>
          <p:cNvSpPr/>
          <p:nvPr/>
        </p:nvSpPr>
        <p:spPr>
          <a:xfrm>
            <a:off x="8046720" y="4572000"/>
            <a:ext cx="361188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13" name="Cifra 21.915"/>
          <p:cNvSpPr txBox="1"/>
          <p:nvPr/>
        </p:nvSpPr>
        <p:spPr>
          <a:xfrm>
            <a:off x="8275320" y="47091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21.915</a:t>
            </a:r>
            <a:endParaRPr lang="en-US" sz="3400" dirty="0"/>
          </a:p>
        </p:txBody>
      </p:sp>
      <p:sp>
        <p:nvSpPr>
          <p:cNvPr id="14" name="Etiqueta 21.915"/>
          <p:cNvSpPr txBox="1"/>
          <p:nvPr/>
        </p:nvSpPr>
        <p:spPr>
          <a:xfrm>
            <a:off x="8275320" y="53492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personas con VIH diagnosticadas aún sin tratamiento</a:t>
            </a:r>
            <a:endParaRPr lang="en-US" sz="1300" dirty="0"/>
          </a:p>
        </p:txBody>
      </p:sp>
      <p:sp>
        <p:nvSpPr>
          <p:cNvPr id="15" name="Fuente"/>
          <p:cNvSpPr txBox="1"/>
          <p:nvPr/>
        </p:nvSpPr>
        <p:spPr>
          <a:xfrm>
            <a:off x="1920240" y="60533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Fuentes: MINSAL, boletines de vigilancia de ITS; ISP, confirmaciones de VIH; ONUSIDA 2024.</a:t>
            </a:r>
            <a:endParaRPr lang="en-US" sz="1000" dirty="0"/>
          </a:p>
        </p:txBody>
      </p:sp>
      <p:sp>
        <p:nvSpPr>
          <p:cNvPr id="16" name="Botón índice"/>
          <p:cNvSpPr/>
          <p:nvPr/>
        </p:nvSpPr>
        <p:spPr>
          <a:xfrm>
            <a:off x="502920" y="6400800"/>
            <a:ext cx="123444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Ícono índic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6464808"/>
            <a:ext cx="201168" cy="201168"/>
          </a:xfrm>
          <a:prstGeom prst="rect">
            <a:avLst/>
          </a:prstGeom>
        </p:spPr>
      </p:pic>
      <p:sp>
        <p:nvSpPr>
          <p:cNvPr id="18" name="Texto índice"/>
          <p:cNvSpPr txBox="1"/>
          <p:nvPr/>
        </p:nvSpPr>
        <p:spPr>
          <a:xfrm>
            <a:off x="850392" y="6400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Índice</a:t>
            </a:r>
            <a:endParaRPr lang="en-US" sz="1100" dirty="0"/>
          </a:p>
        </p:txBody>
      </p:sp>
      <p:pic>
        <p:nvPicPr>
          <p:cNvPr id="19" name="Enlace índice" descr="">
            <a:hlinkClick r:id="rId4" tooltip="Volver al índice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12344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las ITS: qué sabemos y qué no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3268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solo tiene cifras nacionales de las ITS de notificación obligatoria; las más frecuentes del mundo no se vigilan</a:t>
            </a:r>
            <a:endParaRPr lang="en-US" sz="1500" dirty="0"/>
          </a:p>
        </p:txBody>
      </p:sp>
      <p:graphicFrame>
        <p:nvGraphicFramePr>
          <p:cNvPr id="7" name="Tabla todas las I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657600"/>
                <a:gridCol w="2514600"/>
                <a:gridCol w="30175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¿Se vigila?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D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Sífilis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11.155 casos · 55,2 por 100 mil (2025)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9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Notificación obligatoria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4048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millones de casos nuevos (2022)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Gonorrea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2.682 casos · 13,3 por 100 mil (2025)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9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Notificación obligatoria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4048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 millones de casos nuevos (2020)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4.313 diagnósticos (2025) · 91.000 viven con VIH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9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Notificación obligatoria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4048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millones viven con VIH (2025)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Hepatitis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609 casos (2021) · 2 de cada 3 por vía sexual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9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Notificación obligatoria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4048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 millones viven con hepatitis B (2022)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1.455 confirmados (2022–2024)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77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laboratorio o estudios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4048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de 180 mil casos (2022–2026)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Clamidia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tasa nacional · 5,9% en embarazadas (estudio)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77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laboratorio o estudios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4048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 millones de casos nuevos (2020)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17,1% en mujeres en tamizaje (estudio)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977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laboratorio o estudios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4048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de cada 3 hombres con VPH genital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Herpes genital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 poblacional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46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vigila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4048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 millones con herpes tipo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Tricomoniasis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2,4% en embarazadas (estudio)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46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vigila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4048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 millones de casos nuevos (2020)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3F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Linfogranuloma venéreo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 público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46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vigila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4048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Europa: 3.490 casos (2024)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Estado ITS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947672"/>
            <a:ext cx="210312" cy="210312"/>
          </a:xfrm>
          <a:prstGeom prst="rect">
            <a:avLst/>
          </a:prstGeom>
        </p:spPr>
      </p:pic>
      <p:pic>
        <p:nvPicPr>
          <p:cNvPr id="6" name="Estado ITS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340864"/>
            <a:ext cx="210312" cy="210312"/>
          </a:xfrm>
          <a:prstGeom prst="rect">
            <a:avLst/>
          </a:prstGeom>
        </p:spPr>
      </p:pic>
      <p:pic>
        <p:nvPicPr>
          <p:cNvPr id="7" name="Estado ITS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734056"/>
            <a:ext cx="210312" cy="210312"/>
          </a:xfrm>
          <a:prstGeom prst="rect">
            <a:avLst/>
          </a:prstGeom>
        </p:spPr>
      </p:pic>
      <p:pic>
        <p:nvPicPr>
          <p:cNvPr id="8" name="Estado ITS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127248"/>
            <a:ext cx="210312" cy="210312"/>
          </a:xfrm>
          <a:prstGeom prst="rect">
            <a:avLst/>
          </a:prstGeom>
        </p:spPr>
      </p:pic>
      <p:pic>
        <p:nvPicPr>
          <p:cNvPr id="9" name="Estado ITS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520440"/>
            <a:ext cx="210312" cy="210312"/>
          </a:xfrm>
          <a:prstGeom prst="rect">
            <a:avLst/>
          </a:prstGeom>
        </p:spPr>
      </p:pic>
      <p:pic>
        <p:nvPicPr>
          <p:cNvPr id="10" name="Estado ITS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913632"/>
            <a:ext cx="210312" cy="210312"/>
          </a:xfrm>
          <a:prstGeom prst="rect">
            <a:avLst/>
          </a:prstGeom>
        </p:spPr>
      </p:pic>
      <p:pic>
        <p:nvPicPr>
          <p:cNvPr id="11" name="Estado ITS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4306824"/>
            <a:ext cx="210312" cy="210312"/>
          </a:xfrm>
          <a:prstGeom prst="rect">
            <a:avLst/>
          </a:prstGeom>
        </p:spPr>
      </p:pic>
      <p:pic>
        <p:nvPicPr>
          <p:cNvPr id="12" name="Estado ITS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4700016"/>
            <a:ext cx="210312" cy="210312"/>
          </a:xfrm>
          <a:prstGeom prst="rect">
            <a:avLst/>
          </a:prstGeom>
        </p:spPr>
      </p:pic>
      <p:pic>
        <p:nvPicPr>
          <p:cNvPr id="13" name="Estado ITS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5093208"/>
            <a:ext cx="210312" cy="210312"/>
          </a:xfrm>
          <a:prstGeom prst="rect">
            <a:avLst/>
          </a:prstGeom>
        </p:spPr>
      </p:pic>
      <p:pic>
        <p:nvPicPr>
          <p:cNvPr id="14" name="Estado ITS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0" y="5486400"/>
            <a:ext cx="210312" cy="210312"/>
          </a:xfrm>
          <a:prstGeom prst="rect">
            <a:avLst/>
          </a:prstGeom>
        </p:spPr>
      </p:pic>
      <p:sp>
        <p:nvSpPr>
          <p:cNvPr id="15" name="Fuente"/>
          <p:cNvSpPr txBox="1"/>
          <p:nvPr/>
        </p:nvSpPr>
        <p:spPr>
          <a:xfrm>
            <a:off x="1920240" y="60533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Las cifras mundiales son estimaciones de la OMS; las de Chile, casos notificados o estudios locales. Fuentes: MINSAL (Decreto 7/2019, Norma Hepatitis B y C 2025), ISP, OMS, ONUSIDA, OPS, ECDC, Rev Chil Infectol, Rev Méd Chile.</a:t>
            </a:r>
            <a:endParaRPr lang="en-US" sz="1000" dirty="0"/>
          </a:p>
        </p:txBody>
      </p:sp>
      <p:sp>
        <p:nvSpPr>
          <p:cNvPr id="16" name="Botón índice"/>
          <p:cNvSpPr/>
          <p:nvPr/>
        </p:nvSpPr>
        <p:spPr>
          <a:xfrm>
            <a:off x="502920" y="6400800"/>
            <a:ext cx="123444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Ícono índice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504" y="6464808"/>
            <a:ext cx="201168" cy="201168"/>
          </a:xfrm>
          <a:prstGeom prst="rect">
            <a:avLst/>
          </a:prstGeom>
        </p:spPr>
      </p:pic>
      <p:sp>
        <p:nvSpPr>
          <p:cNvPr id="18" name="Texto índice"/>
          <p:cNvSpPr txBox="1"/>
          <p:nvPr/>
        </p:nvSpPr>
        <p:spPr>
          <a:xfrm>
            <a:off x="850392" y="6400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Índice</a:t>
            </a:r>
            <a:endParaRPr lang="en-US" sz="1100" dirty="0"/>
          </a:p>
        </p:txBody>
      </p:sp>
      <p:pic>
        <p:nvPicPr>
          <p:cNvPr id="19" name="Enlace índice" descr="">
            <a:hlinkClick r:id="rId13" tooltip="Volver al índice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" y="6400800"/>
            <a:ext cx="12344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Chile frente al mundo: ITS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3268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notificados por 100 mil habitantes: Chile, Estados Unidos y la Unión Europea (2023–2025)</a:t>
            </a:r>
            <a:endParaRPr lang="en-US" sz="1500" dirty="0"/>
          </a:p>
        </p:txBody>
      </p:sp>
      <p:sp>
        <p:nvSpPr>
          <p:cNvPr id="4" name="Tarjeta Sífilis"/>
          <p:cNvSpPr/>
          <p:nvPr/>
        </p:nvSpPr>
        <p:spPr>
          <a:xfrm>
            <a:off x="548640" y="1463040"/>
            <a:ext cx="3566160" cy="3657600"/>
          </a:xfrm>
          <a:prstGeom prst="roundRect">
            <a:avLst>
              <a:gd name="adj" fmla="val 3590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graphicFrame>
        <p:nvGraphicFramePr>
          <p:cNvPr id="5" name="Gráfico Sífilis" descr=""/>
          <p:cNvGraphicFramePr/>
          <p:nvPr/>
        </p:nvGraphicFramePr>
        <p:xfrm>
          <a:off x="640080" y="1554480"/>
          <a:ext cx="3383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Lectura Sífilis"/>
          <p:cNvSpPr txBox="1"/>
          <p:nvPr/>
        </p:nvSpPr>
        <p:spPr>
          <a:xfrm>
            <a:off x="777240" y="4389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Cerca de EE.UU. y 5 veces Europa</a:t>
            </a:r>
            <a:endParaRPr lang="en-US" sz="1400" dirty="0"/>
          </a:p>
        </p:txBody>
      </p:sp>
      <p:sp>
        <p:nvSpPr>
          <p:cNvPr id="7" name="Tarjeta VIH (diagnósticos)"/>
          <p:cNvSpPr/>
          <p:nvPr/>
        </p:nvSpPr>
        <p:spPr>
          <a:xfrm>
            <a:off x="4297680" y="1463040"/>
            <a:ext cx="3566160" cy="3657600"/>
          </a:xfrm>
          <a:prstGeom prst="roundRect">
            <a:avLst>
              <a:gd name="adj" fmla="val 3590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graphicFrame>
        <p:nvGraphicFramePr>
          <p:cNvPr id="8" name="Gráfico VIH (diagnósticos)" descr=""/>
          <p:cNvGraphicFramePr/>
          <p:nvPr/>
        </p:nvGraphicFramePr>
        <p:xfrm>
          <a:off x="4389120" y="1554480"/>
          <a:ext cx="3383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Lectura VIH (diagnósticos)"/>
          <p:cNvSpPr txBox="1"/>
          <p:nvPr/>
        </p:nvSpPr>
        <p:spPr>
          <a:xfrm>
            <a:off x="4526280" y="4389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Sobre EE.UU. y 4 veces Europa</a:t>
            </a:r>
            <a:endParaRPr lang="en-US" sz="1400" dirty="0"/>
          </a:p>
        </p:txBody>
      </p:sp>
      <p:sp>
        <p:nvSpPr>
          <p:cNvPr id="10" name="Tarjeta Gonorrea"/>
          <p:cNvSpPr/>
          <p:nvPr/>
        </p:nvSpPr>
        <p:spPr>
          <a:xfrm>
            <a:off x="8046720" y="1463040"/>
            <a:ext cx="3566160" cy="3657600"/>
          </a:xfrm>
          <a:prstGeom prst="roundRect">
            <a:avLst>
              <a:gd name="adj" fmla="val 3590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graphicFrame>
        <p:nvGraphicFramePr>
          <p:cNvPr id="11" name="Gráfico Gonorrea" descr=""/>
          <p:cNvGraphicFramePr/>
          <p:nvPr/>
        </p:nvGraphicFramePr>
        <p:xfrm>
          <a:off x="8138160" y="1554480"/>
          <a:ext cx="3383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Lectura Gonorrea"/>
          <p:cNvSpPr txBox="1"/>
          <p:nvPr/>
        </p:nvSpPr>
        <p:spPr>
          <a:xfrm>
            <a:off x="8275320" y="4389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Bajo, pero porque se testea poco</a:t>
            </a:r>
            <a:endParaRPr lang="en-US" sz="1400" dirty="0"/>
          </a:p>
        </p:txBody>
      </p:sp>
      <p:sp>
        <p:nvSpPr>
          <p:cNvPr id="13" name="Tarjeta posición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14" name="Texto posición"/>
          <p:cNvSpPr txBox="1"/>
          <p:nvPr/>
        </p:nvSpPr>
        <p:spPr>
          <a:xfrm>
            <a:off x="777240" y="5257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D4"/>
                </a:solidFill>
              </a:rPr>
              <a:t>Posición de Chile: </a:t>
            </a:r>
            <a:pPr indent="0" marL="0">
              <a:buNone/>
            </a:pPr>
            <a:r>
              <a:rPr lang="en-US" sz="1400" dirty="0">
                <a:solidFill>
                  <a:srgbClr val="3A2E4A"/>
                </a:solidFill>
              </a:rPr>
              <a:t>alta en sífilis y VIH, en una región que concentra el 42% de la sífilis nueva del mundo; la gonorrea baja refleja menos testeo con PCR, no menos infección.</a:t>
            </a:r>
            <a:endParaRPr lang="en-US" sz="1400" dirty="0"/>
          </a:p>
        </p:txBody>
      </p:sp>
      <p:sp>
        <p:nvSpPr>
          <p:cNvPr id="15" name="Fuente"/>
          <p:cNvSpPr txBox="1"/>
          <p:nvPr/>
        </p:nvSpPr>
        <p:spPr>
          <a:xfrm>
            <a:off x="1920240" y="60533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Fuentes: MINSAL e ISP (Chile 2025; VIH: cálculo propio sobre 20,2 millones de habitantes), CDC 2023, ECDC 2024, OPS 2024.</a:t>
            </a:r>
            <a:endParaRPr lang="en-US" sz="1000" dirty="0"/>
          </a:p>
        </p:txBody>
      </p:sp>
      <p:sp>
        <p:nvSpPr>
          <p:cNvPr id="16" name="Botón índice"/>
          <p:cNvSpPr/>
          <p:nvPr/>
        </p:nvSpPr>
        <p:spPr>
          <a:xfrm>
            <a:off x="502920" y="6400800"/>
            <a:ext cx="123444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Ícono índic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6464808"/>
            <a:ext cx="201168" cy="201168"/>
          </a:xfrm>
          <a:prstGeom prst="rect">
            <a:avLst/>
          </a:prstGeom>
        </p:spPr>
      </p:pic>
      <p:sp>
        <p:nvSpPr>
          <p:cNvPr id="18" name="Texto índice"/>
          <p:cNvSpPr txBox="1"/>
          <p:nvPr/>
        </p:nvSpPr>
        <p:spPr>
          <a:xfrm>
            <a:off x="850392" y="6400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Índice</a:t>
            </a:r>
            <a:endParaRPr lang="en-US" sz="1100" dirty="0"/>
          </a:p>
        </p:txBody>
      </p:sp>
      <p:pic>
        <p:nvPicPr>
          <p:cNvPr id="19" name="Enlace índice" descr="">
            <a:hlinkClick r:id="rId6" tooltip="Volver al índice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400800"/>
            <a:ext cx="12344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Chile frente al mundo: cáncer y salud materna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3268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Tasas por 100 mil (cáncer, GLOBOCAN 2024) y muertes maternas por 100 mil nacidos vivos (2023)</a:t>
            </a:r>
            <a:endParaRPr lang="en-US" sz="1500" dirty="0"/>
          </a:p>
        </p:txBody>
      </p:sp>
      <p:sp>
        <p:nvSpPr>
          <p:cNvPr id="4" name="Tarjeta cáncer mundo"/>
          <p:cNvSpPr/>
          <p:nvPr/>
        </p:nvSpPr>
        <p:spPr>
          <a:xfrm>
            <a:off x="548640" y="1463040"/>
            <a:ext cx="6766560" cy="4526280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graphicFrame>
        <p:nvGraphicFramePr>
          <p:cNvPr id="5" name="Gráfico cáncer mundo" descr=""/>
          <p:cNvGraphicFramePr/>
          <p:nvPr/>
        </p:nvGraphicFramePr>
        <p:xfrm>
          <a:off x="685800" y="1554480"/>
          <a:ext cx="64922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arjeta materna"/>
          <p:cNvSpPr/>
          <p:nvPr/>
        </p:nvSpPr>
        <p:spPr>
          <a:xfrm>
            <a:off x="7498080" y="1463040"/>
            <a:ext cx="4160520" cy="2148840"/>
          </a:xfrm>
          <a:prstGeom prst="roundRect">
            <a:avLst>
              <a:gd name="adj" fmla="val 5957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7" name="Texto materna"/>
          <p:cNvSpPr txBox="1"/>
          <p:nvPr/>
        </p:nvSpPr>
        <p:spPr>
          <a:xfrm>
            <a:off x="7726680" y="1554480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3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3A2E4A"/>
                </a:solidFill>
              </a:rPr>
              <a:t>  muertes maternas por 100 mil NV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3A2E4A"/>
                </a:solidFill>
              </a:rPr>
              <a:t>Américas 59 · Sudamérica 89 · Mundo 197: una de las más bajas de la región.</a:t>
            </a:r>
            <a:endParaRPr lang="en-US" sz="4000" dirty="0"/>
          </a:p>
        </p:txBody>
      </p:sp>
      <p:sp>
        <p:nvSpPr>
          <p:cNvPr id="8" name="Tarjeta mortalidad cáncer"/>
          <p:cNvSpPr/>
          <p:nvPr/>
        </p:nvSpPr>
        <p:spPr>
          <a:xfrm>
            <a:off x="7498080" y="3794760"/>
            <a:ext cx="4160520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9" name="Texto cáncer"/>
          <p:cNvSpPr txBox="1"/>
          <p:nvPr/>
        </p:nvSpPr>
        <p:spPr>
          <a:xfrm>
            <a:off x="7726680" y="38862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</a:t>
            </a:r>
            <a:pPr indent="0" marL="0">
              <a:buNone/>
            </a:pPr>
            <a:r>
              <a:rPr lang="en-US" sz="1400" dirty="0">
                <a:solidFill>
                  <a:srgbClr val="3A2E4A"/>
                </a:solidFill>
              </a:rPr>
              <a:t>  muertes por cada 10 casos de mama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3A2E4A"/>
                </a:solidFill>
              </a:rPr>
              <a:t>Mundo y Latinoamérica: 2,8. Chile tiene menos casos, pero llega más tarde al diagnóstico.</a:t>
            </a:r>
            <a:endParaRPr lang="en-US" sz="4000" dirty="0"/>
          </a:p>
        </p:txBody>
      </p:sp>
      <p:sp>
        <p:nvSpPr>
          <p:cNvPr id="10" name="Fuente"/>
          <p:cNvSpPr txBox="1"/>
          <p:nvPr/>
        </p:nvSpPr>
        <p:spPr>
          <a:xfrm>
            <a:off x="1920240" y="60533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Fuentes: IARC, GLOBOCAN 2024; OMS/UNICEF/UNFPA/Banco Mundial, estimaciones de mortalidad materna 2023.</a:t>
            </a:r>
            <a:endParaRPr lang="en-US" sz="1000" dirty="0"/>
          </a:p>
        </p:txBody>
      </p:sp>
      <p:sp>
        <p:nvSpPr>
          <p:cNvPr id="11" name="Botón índice"/>
          <p:cNvSpPr/>
          <p:nvPr/>
        </p:nvSpPr>
        <p:spPr>
          <a:xfrm>
            <a:off x="502920" y="6400800"/>
            <a:ext cx="123444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Ícono índic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6464808"/>
            <a:ext cx="201168" cy="201168"/>
          </a:xfrm>
          <a:prstGeom prst="rect">
            <a:avLst/>
          </a:prstGeom>
        </p:spPr>
      </p:pic>
      <p:sp>
        <p:nvSpPr>
          <p:cNvPr id="13" name="Texto índice"/>
          <p:cNvSpPr txBox="1"/>
          <p:nvPr/>
        </p:nvSpPr>
        <p:spPr>
          <a:xfrm>
            <a:off x="850392" y="6400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Índice</a:t>
            </a:r>
            <a:endParaRPr lang="en-US" sz="1100" dirty="0"/>
          </a:p>
        </p:txBody>
      </p:sp>
      <p:pic>
        <p:nvPicPr>
          <p:cNvPr id="14" name="Enlace índice" descr="">
            <a:hlinkClick r:id="rId4" tooltip="Volver al índice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12344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embarazo adolescente, más matronas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3268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fecundidad de 15 a 19 años cayó a un tercio mientras las matronas inscritas crecieron 70%</a:t>
            </a:r>
            <a:endParaRPr lang="en-US" sz="1500" dirty="0"/>
          </a:p>
        </p:txBody>
      </p:sp>
      <p:sp>
        <p:nvSpPr>
          <p:cNvPr id="4" name="Tarjeta fecundidad"/>
          <p:cNvSpPr/>
          <p:nvPr/>
        </p:nvSpPr>
        <p:spPr>
          <a:xfrm>
            <a:off x="548640" y="1508760"/>
            <a:ext cx="5486400" cy="4434840"/>
          </a:xfrm>
          <a:prstGeom prst="roundRect">
            <a:avLst>
              <a:gd name="adj" fmla="val 2887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graphicFrame>
        <p:nvGraphicFramePr>
          <p:cNvPr id="5" name="Gráfico fecundidad" descr=""/>
          <p:cNvGraphicFramePr/>
          <p:nvPr/>
        </p:nvGraphicFramePr>
        <p:xfrm>
          <a:off x="685800" y="1645920"/>
          <a:ext cx="52120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arjeta matronas"/>
          <p:cNvSpPr/>
          <p:nvPr/>
        </p:nvSpPr>
        <p:spPr>
          <a:xfrm>
            <a:off x="6217920" y="1508760"/>
            <a:ext cx="5440680" cy="4434840"/>
          </a:xfrm>
          <a:prstGeom prst="roundRect">
            <a:avLst>
              <a:gd name="adj" fmla="val 2887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graphicFrame>
        <p:nvGraphicFramePr>
          <p:cNvPr id="7" name="Gráfico matronas" descr=""/>
          <p:cNvGraphicFramePr/>
          <p:nvPr/>
        </p:nvGraphicFramePr>
        <p:xfrm>
          <a:off x="6355080" y="1645920"/>
          <a:ext cx="51663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Fuente"/>
          <p:cNvSpPr txBox="1"/>
          <p:nvPr/>
        </p:nvSpPr>
        <p:spPr>
          <a:xfrm>
            <a:off x="1920240" y="60533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Fuentes: INE y DEIS, estadísticas vitales (2024 y 2025 provisionales); Superintendencia de Salud, Registro Nacional de Prestadores.</a:t>
            </a:r>
            <a:endParaRPr lang="en-US" sz="1000" dirty="0"/>
          </a:p>
        </p:txBody>
      </p:sp>
      <p:sp>
        <p:nvSpPr>
          <p:cNvPr id="9" name="Botón índice"/>
          <p:cNvSpPr/>
          <p:nvPr/>
        </p:nvSpPr>
        <p:spPr>
          <a:xfrm>
            <a:off x="502920" y="6400800"/>
            <a:ext cx="123444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o índic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6464808"/>
            <a:ext cx="201168" cy="201168"/>
          </a:xfrm>
          <a:prstGeom prst="rect">
            <a:avLst/>
          </a:prstGeom>
        </p:spPr>
      </p:pic>
      <p:sp>
        <p:nvSpPr>
          <p:cNvPr id="11" name="Texto índice"/>
          <p:cNvSpPr txBox="1"/>
          <p:nvPr/>
        </p:nvSpPr>
        <p:spPr>
          <a:xfrm>
            <a:off x="850392" y="6400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Índice</a:t>
            </a:r>
            <a:endParaRPr lang="en-US" sz="1100" dirty="0"/>
          </a:p>
        </p:txBody>
      </p:sp>
      <p:pic>
        <p:nvPicPr>
          <p:cNvPr id="12" name="Enlace índice" descr="">
            <a:hlinkClick r:id="rId5" tooltip="Volver al índice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12344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Cáncer al alza; el ajuar sigue a la natalidad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3268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cáncer es la primera causa de muerte desde 2019; el ajuar baja con los nacimientos, no por cobertura</a:t>
            </a:r>
            <a:endParaRPr lang="en-US" sz="1500" dirty="0"/>
          </a:p>
        </p:txBody>
      </p:sp>
      <p:sp>
        <p:nvSpPr>
          <p:cNvPr id="4" name="Tarjeta cáncer"/>
          <p:cNvSpPr/>
          <p:nvPr/>
        </p:nvSpPr>
        <p:spPr>
          <a:xfrm>
            <a:off x="548640" y="1508760"/>
            <a:ext cx="5486400" cy="4434840"/>
          </a:xfrm>
          <a:prstGeom prst="roundRect">
            <a:avLst>
              <a:gd name="adj" fmla="val 2887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graphicFrame>
        <p:nvGraphicFramePr>
          <p:cNvPr id="5" name="Gráfico cáncer" descr=""/>
          <p:cNvGraphicFramePr/>
          <p:nvPr/>
        </p:nvGraphicFramePr>
        <p:xfrm>
          <a:off x="685800" y="1645920"/>
          <a:ext cx="52120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arjeta ajuar"/>
          <p:cNvSpPr/>
          <p:nvPr/>
        </p:nvSpPr>
        <p:spPr>
          <a:xfrm>
            <a:off x="6217920" y="1508760"/>
            <a:ext cx="5440680" cy="4434840"/>
          </a:xfrm>
          <a:prstGeom prst="roundRect">
            <a:avLst>
              <a:gd name="adj" fmla="val 2887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graphicFrame>
        <p:nvGraphicFramePr>
          <p:cNvPr id="7" name="Gráfico ajuar" descr=""/>
          <p:cNvGraphicFramePr/>
          <p:nvPr/>
        </p:nvGraphicFramePr>
        <p:xfrm>
          <a:off x="6355080" y="1645920"/>
          <a:ext cx="5166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obertura ajuar"/>
          <p:cNvSpPr txBox="1"/>
          <p:nvPr/>
        </p:nvSpPr>
        <p:spPr>
          <a:xfrm>
            <a:off x="6492240" y="4846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97–99%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cobertura en la red pública (2019–2022)</a:t>
            </a:r>
            <a:endParaRPr lang="en-US" sz="2600" dirty="0"/>
          </a:p>
        </p:txBody>
      </p:sp>
      <p:sp>
        <p:nvSpPr>
          <p:cNvPr id="9" name="Nota ajuar"/>
          <p:cNvSpPr txBox="1"/>
          <p:nvPr/>
        </p:nvSpPr>
        <p:spPr>
          <a:xfrm>
            <a:off x="6492240" y="5349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presupuesto 2026 bajó 10,5% por la menor natalidad.</a:t>
            </a:r>
            <a:endParaRPr lang="en-US" sz="1300" dirty="0"/>
          </a:p>
        </p:txBody>
      </p:sp>
      <p:sp>
        <p:nvSpPr>
          <p:cNvPr id="10" name="Fuente"/>
          <p:cNvSpPr txBox="1"/>
          <p:nvPr/>
        </p:nvSpPr>
        <p:spPr>
          <a:xfrm>
            <a:off x="1920240" y="60533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Fuentes: DEIS, defunciones por causa (2024 preliminar); Chile Crece Contigo, informes de evaluación del PARN; Dipres.</a:t>
            </a:r>
            <a:endParaRPr lang="en-US" sz="1000" dirty="0"/>
          </a:p>
        </p:txBody>
      </p:sp>
      <p:sp>
        <p:nvSpPr>
          <p:cNvPr id="11" name="Botón índice"/>
          <p:cNvSpPr/>
          <p:nvPr/>
        </p:nvSpPr>
        <p:spPr>
          <a:xfrm>
            <a:off x="502920" y="6400800"/>
            <a:ext cx="123444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Ícono índic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6464808"/>
            <a:ext cx="201168" cy="201168"/>
          </a:xfrm>
          <a:prstGeom prst="rect">
            <a:avLst/>
          </a:prstGeom>
        </p:spPr>
      </p:pic>
      <p:sp>
        <p:nvSpPr>
          <p:cNvPr id="13" name="Texto índice"/>
          <p:cNvSpPr txBox="1"/>
          <p:nvPr/>
        </p:nvSpPr>
        <p:spPr>
          <a:xfrm>
            <a:off x="850392" y="6400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Índice</a:t>
            </a:r>
            <a:endParaRPr lang="en-US" sz="1100" dirty="0"/>
          </a:p>
        </p:txBody>
      </p:sp>
      <p:pic>
        <p:nvPicPr>
          <p:cNvPr id="14" name="Enlace índice" descr="">
            <a:hlinkClick r:id="rId5" tooltip="Volver al índice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12344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clave frente a su meta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3268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tablero de control: qué indicadores ya cumplen y cuáles todavía no</a:t>
            </a:r>
            <a:endParaRPr lang="en-US" sz="1500" dirty="0"/>
          </a:p>
        </p:txBody>
      </p:sp>
      <p:sp>
        <p:nvSpPr>
          <p:cNvPr id="4" name="Métrica Transmisión vertical de VIH"/>
          <p:cNvSpPr/>
          <p:nvPr/>
        </p:nvSpPr>
        <p:spPr>
          <a:xfrm>
            <a:off x="548640" y="1508760"/>
            <a:ext cx="54406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pic>
        <p:nvPicPr>
          <p:cNvPr id="5" name="Estado Transmisión vertical de VI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64792"/>
            <a:ext cx="457200" cy="457200"/>
          </a:xfrm>
          <a:prstGeom prst="rect">
            <a:avLst/>
          </a:prstGeom>
        </p:spPr>
      </p:pic>
      <p:sp>
        <p:nvSpPr>
          <p:cNvPr id="6" name="Nombre Transmisión vertical de VIH"/>
          <p:cNvSpPr txBox="1"/>
          <p:nvPr/>
        </p:nvSpPr>
        <p:spPr>
          <a:xfrm>
            <a:off x="1371600" y="161848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4A"/>
                </a:solidFill>
              </a:rPr>
              <a:t>Transmisión vertical de VIH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2E4A"/>
                </a:solidFill>
              </a:rPr>
              <a:t>ITS · Meta OPS &lt; 2%</a:t>
            </a:r>
            <a:endParaRPr lang="en-US" sz="1400" dirty="0"/>
          </a:p>
        </p:txBody>
      </p:sp>
      <p:sp>
        <p:nvSpPr>
          <p:cNvPr id="7" name="Valor Transmisión vertical de VIH"/>
          <p:cNvSpPr txBox="1"/>
          <p:nvPr/>
        </p:nvSpPr>
        <p:spPr>
          <a:xfrm>
            <a:off x="4251960" y="161848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9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1,5%</a:t>
            </a:r>
            <a:endParaRPr lang="en-US" sz="2400" dirty="0"/>
          </a:p>
        </p:txBody>
      </p:sp>
      <p:sp>
        <p:nvSpPr>
          <p:cNvPr id="8" name="Métrica Sífilis congénita (por 1.000 NV)"/>
          <p:cNvSpPr/>
          <p:nvPr/>
        </p:nvSpPr>
        <p:spPr>
          <a:xfrm>
            <a:off x="6126480" y="1508760"/>
            <a:ext cx="54406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pic>
        <p:nvPicPr>
          <p:cNvPr id="9" name="Estado Sífilis congénita (por 1.000 NV)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764792"/>
            <a:ext cx="457200" cy="457200"/>
          </a:xfrm>
          <a:prstGeom prst="rect">
            <a:avLst/>
          </a:prstGeom>
        </p:spPr>
      </p:pic>
      <p:sp>
        <p:nvSpPr>
          <p:cNvPr id="10" name="Nombre Sífilis congénita (por 1.000 NV)"/>
          <p:cNvSpPr txBox="1"/>
          <p:nvPr/>
        </p:nvSpPr>
        <p:spPr>
          <a:xfrm>
            <a:off x="6949440" y="161848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4A"/>
                </a:solidFill>
              </a:rPr>
              <a:t>Sífilis congénita (por 1.000 NV)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2E4A"/>
                </a:solidFill>
              </a:rPr>
              <a:t>ITS · Meta OPS ≤ 0,5</a:t>
            </a:r>
            <a:endParaRPr lang="en-US" sz="1400" dirty="0"/>
          </a:p>
        </p:txBody>
      </p:sp>
      <p:sp>
        <p:nvSpPr>
          <p:cNvPr id="11" name="Valor Sífilis congénita (por 1.000 NV)"/>
          <p:cNvSpPr txBox="1"/>
          <p:nvPr/>
        </p:nvSpPr>
        <p:spPr>
          <a:xfrm>
            <a:off x="9829800" y="161848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9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0,41</a:t>
            </a:r>
            <a:endParaRPr lang="en-US" sz="2400" dirty="0"/>
          </a:p>
        </p:txBody>
      </p:sp>
      <p:sp>
        <p:nvSpPr>
          <p:cNvPr id="12" name="Métrica Mortalidad neonatal (por 1.000 NV)"/>
          <p:cNvSpPr/>
          <p:nvPr/>
        </p:nvSpPr>
        <p:spPr>
          <a:xfrm>
            <a:off x="548640" y="2606040"/>
            <a:ext cx="54406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pic>
        <p:nvPicPr>
          <p:cNvPr id="13" name="Estado Mortalidad neonatal (por 1.000 NV)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862072"/>
            <a:ext cx="457200" cy="457200"/>
          </a:xfrm>
          <a:prstGeom prst="rect">
            <a:avLst/>
          </a:prstGeom>
        </p:spPr>
      </p:pic>
      <p:sp>
        <p:nvSpPr>
          <p:cNvPr id="14" name="Nombre Mortalidad neonatal (por 1.000 NV)"/>
          <p:cNvSpPr txBox="1"/>
          <p:nvPr/>
        </p:nvSpPr>
        <p:spPr>
          <a:xfrm>
            <a:off x="1371600" y="271576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4A"/>
                </a:solidFill>
              </a:rPr>
              <a:t>Mortalidad neonatal (por 1.000 NV)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2E4A"/>
                </a:solidFill>
              </a:rPr>
              <a:t>Embarazo · ODS 3.2: ≤ 12</a:t>
            </a:r>
            <a:endParaRPr lang="en-US" sz="1400" dirty="0"/>
          </a:p>
        </p:txBody>
      </p:sp>
      <p:sp>
        <p:nvSpPr>
          <p:cNvPr id="15" name="Valor Mortalidad neonatal (por 1.000 NV)"/>
          <p:cNvSpPr txBox="1"/>
          <p:nvPr/>
        </p:nvSpPr>
        <p:spPr>
          <a:xfrm>
            <a:off x="4251960" y="271576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9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</a:t>
            </a:r>
            <a:endParaRPr lang="en-US" sz="2400" dirty="0"/>
          </a:p>
        </p:txBody>
      </p:sp>
      <p:sp>
        <p:nvSpPr>
          <p:cNvPr id="16" name="Métrica Vacuna VPH (niñas &lt; 15)"/>
          <p:cNvSpPr/>
          <p:nvPr/>
        </p:nvSpPr>
        <p:spPr>
          <a:xfrm>
            <a:off x="6126480" y="2606040"/>
            <a:ext cx="54406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pic>
        <p:nvPicPr>
          <p:cNvPr id="17" name="Estado Vacuna VPH (niñas &lt; 15)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862072"/>
            <a:ext cx="457200" cy="457200"/>
          </a:xfrm>
          <a:prstGeom prst="rect">
            <a:avLst/>
          </a:prstGeom>
        </p:spPr>
      </p:pic>
      <p:sp>
        <p:nvSpPr>
          <p:cNvPr id="18" name="Nombre Vacuna VPH (niñas &lt; 15)"/>
          <p:cNvSpPr txBox="1"/>
          <p:nvPr/>
        </p:nvSpPr>
        <p:spPr>
          <a:xfrm>
            <a:off x="6949440" y="271576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4A"/>
                </a:solidFill>
              </a:rPr>
              <a:t>Vacuna VPH (niñas &lt; 15)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2E4A"/>
                </a:solidFill>
              </a:rPr>
              <a:t>Cáncer · OMS 2030: 90%</a:t>
            </a:r>
            <a:endParaRPr lang="en-US" sz="1400" dirty="0"/>
          </a:p>
        </p:txBody>
      </p:sp>
      <p:sp>
        <p:nvSpPr>
          <p:cNvPr id="19" name="Valor Vacuna VPH (niñas &amp;lt; 15)"/>
          <p:cNvSpPr txBox="1"/>
          <p:nvPr/>
        </p:nvSpPr>
        <p:spPr>
          <a:xfrm>
            <a:off x="9829800" y="271576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977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86,2%</a:t>
            </a:r>
            <a:endParaRPr lang="en-US" sz="2400" dirty="0"/>
          </a:p>
        </p:txBody>
      </p:sp>
      <p:sp>
        <p:nvSpPr>
          <p:cNvPr id="20" name="Métrica Cobertura del ajuar"/>
          <p:cNvSpPr/>
          <p:nvPr/>
        </p:nvSpPr>
        <p:spPr>
          <a:xfrm>
            <a:off x="548640" y="3703320"/>
            <a:ext cx="54406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pic>
        <p:nvPicPr>
          <p:cNvPr id="21" name="Estado Cobertura del ajua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959352"/>
            <a:ext cx="457200" cy="457200"/>
          </a:xfrm>
          <a:prstGeom prst="rect">
            <a:avLst/>
          </a:prstGeom>
        </p:spPr>
      </p:pic>
      <p:sp>
        <p:nvSpPr>
          <p:cNvPr id="22" name="Nombre Cobertura del ajuar"/>
          <p:cNvSpPr txBox="1"/>
          <p:nvPr/>
        </p:nvSpPr>
        <p:spPr>
          <a:xfrm>
            <a:off x="1371600" y="381304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4A"/>
                </a:solidFill>
              </a:rPr>
              <a:t>Cobertura del ajuar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2E4A"/>
                </a:solidFill>
              </a:rPr>
              <a:t>Ajuar · 100% de la red pública</a:t>
            </a:r>
            <a:endParaRPr lang="en-US" sz="1400" dirty="0"/>
          </a:p>
        </p:txBody>
      </p:sp>
      <p:sp>
        <p:nvSpPr>
          <p:cNvPr id="23" name="Valor Cobertura del ajuar"/>
          <p:cNvSpPr txBox="1"/>
          <p:nvPr/>
        </p:nvSpPr>
        <p:spPr>
          <a:xfrm>
            <a:off x="4251960" y="381304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977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97–99%</a:t>
            </a:r>
            <a:endParaRPr lang="en-US" sz="2400" dirty="0"/>
          </a:p>
        </p:txBody>
      </p:sp>
      <p:sp>
        <p:nvSpPr>
          <p:cNvPr id="24" name="Métrica VIH: en tratamiento"/>
          <p:cNvSpPr/>
          <p:nvPr/>
        </p:nvSpPr>
        <p:spPr>
          <a:xfrm>
            <a:off x="6126480" y="3703320"/>
            <a:ext cx="54406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pic>
        <p:nvPicPr>
          <p:cNvPr id="25" name="Estado VIH: en tratamient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959352"/>
            <a:ext cx="457200" cy="457200"/>
          </a:xfrm>
          <a:prstGeom prst="rect">
            <a:avLst/>
          </a:prstGeom>
        </p:spPr>
      </p:pic>
      <p:sp>
        <p:nvSpPr>
          <p:cNvPr id="26" name="Nombre VIH: en tratamiento"/>
          <p:cNvSpPr txBox="1"/>
          <p:nvPr/>
        </p:nvSpPr>
        <p:spPr>
          <a:xfrm>
            <a:off x="6949440" y="381304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4A"/>
                </a:solidFill>
              </a:rPr>
              <a:t>VIH: en tratamiento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2E4A"/>
                </a:solidFill>
              </a:rPr>
              <a:t>ITS · ONUSIDA: 95%</a:t>
            </a:r>
            <a:endParaRPr lang="en-US" sz="1400" dirty="0"/>
          </a:p>
        </p:txBody>
      </p:sp>
      <p:sp>
        <p:nvSpPr>
          <p:cNvPr id="27" name="Valor VIH: en tratamiento"/>
          <p:cNvSpPr txBox="1"/>
          <p:nvPr/>
        </p:nvSpPr>
        <p:spPr>
          <a:xfrm>
            <a:off x="9829800" y="381304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946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2400" dirty="0"/>
          </a:p>
        </p:txBody>
      </p:sp>
      <p:sp>
        <p:nvSpPr>
          <p:cNvPr id="28" name="Métrica Mamografía vigente"/>
          <p:cNvSpPr/>
          <p:nvPr/>
        </p:nvSpPr>
        <p:spPr>
          <a:xfrm>
            <a:off x="548640" y="4800600"/>
            <a:ext cx="54406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pic>
        <p:nvPicPr>
          <p:cNvPr id="29" name="Estado Mamografía vigent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056632"/>
            <a:ext cx="457200" cy="457200"/>
          </a:xfrm>
          <a:prstGeom prst="rect">
            <a:avLst/>
          </a:prstGeom>
        </p:spPr>
      </p:pic>
      <p:sp>
        <p:nvSpPr>
          <p:cNvPr id="30" name="Nombre Mamografía vigente"/>
          <p:cNvSpPr txBox="1"/>
          <p:nvPr/>
        </p:nvSpPr>
        <p:spPr>
          <a:xfrm>
            <a:off x="1371600" y="491032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4A"/>
                </a:solidFill>
              </a:rPr>
              <a:t>Mamografía vigente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2E4A"/>
                </a:solidFill>
              </a:rPr>
              <a:t>Cáncer · Meta: 70%</a:t>
            </a:r>
            <a:endParaRPr lang="en-US" sz="1400" dirty="0"/>
          </a:p>
        </p:txBody>
      </p:sp>
      <p:sp>
        <p:nvSpPr>
          <p:cNvPr id="31" name="Valor Mamografía vigente"/>
          <p:cNvSpPr txBox="1"/>
          <p:nvPr/>
        </p:nvSpPr>
        <p:spPr>
          <a:xfrm>
            <a:off x="4251960" y="49103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946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37,4%</a:t>
            </a:r>
            <a:endParaRPr lang="en-US" sz="2400" dirty="0"/>
          </a:p>
        </p:txBody>
      </p:sp>
      <p:sp>
        <p:nvSpPr>
          <p:cNvPr id="32" name="Métrica Embarazos al año con píldora (de 100)"/>
          <p:cNvSpPr/>
          <p:nvPr/>
        </p:nvSpPr>
        <p:spPr>
          <a:xfrm>
            <a:off x="6126480" y="4800600"/>
            <a:ext cx="544068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pic>
        <p:nvPicPr>
          <p:cNvPr id="33" name="Estado Embarazos al año con píldora (de 100)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5056632"/>
            <a:ext cx="457200" cy="457200"/>
          </a:xfrm>
          <a:prstGeom prst="rect">
            <a:avLst/>
          </a:prstGeom>
        </p:spPr>
      </p:pic>
      <p:sp>
        <p:nvSpPr>
          <p:cNvPr id="34" name="Nombre Embarazos al año con píldora (de 100)"/>
          <p:cNvSpPr txBox="1"/>
          <p:nvPr/>
        </p:nvSpPr>
        <p:spPr>
          <a:xfrm>
            <a:off x="6949440" y="491032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4A"/>
                </a:solidFill>
              </a:rPr>
              <a:t>Embarazos al año con píldora (de 100)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A2E4A"/>
                </a:solidFill>
              </a:rPr>
              <a:t>Anticonceptivos · Implante y DIU: 0,1</a:t>
            </a:r>
            <a:endParaRPr lang="en-US" sz="1400" dirty="0"/>
          </a:p>
        </p:txBody>
      </p:sp>
      <p:sp>
        <p:nvSpPr>
          <p:cNvPr id="35" name="Valor Embarazos al año con píldora (de 100)"/>
          <p:cNvSpPr txBox="1"/>
          <p:nvPr/>
        </p:nvSpPr>
        <p:spPr>
          <a:xfrm>
            <a:off x="9829800" y="49103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977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pic>
        <p:nvPicPr>
          <p:cNvPr id="36" name="Leyenda Cumpl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0240" y="6108192"/>
            <a:ext cx="201168" cy="201168"/>
          </a:xfrm>
          <a:prstGeom prst="rect">
            <a:avLst/>
          </a:prstGeom>
        </p:spPr>
      </p:pic>
      <p:sp>
        <p:nvSpPr>
          <p:cNvPr id="37" name="Texto leyenda Cumple"/>
          <p:cNvSpPr txBox="1"/>
          <p:nvPr/>
        </p:nvSpPr>
        <p:spPr>
          <a:xfrm>
            <a:off x="2176272" y="60533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Cumple</a:t>
            </a:r>
            <a:endParaRPr lang="en-US" sz="1100" dirty="0"/>
          </a:p>
        </p:txBody>
      </p:sp>
      <p:pic>
        <p:nvPicPr>
          <p:cNvPr id="38" name="Leyenda Cerca de la meta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0440" y="6108192"/>
            <a:ext cx="201168" cy="201168"/>
          </a:xfrm>
          <a:prstGeom prst="rect">
            <a:avLst/>
          </a:prstGeom>
        </p:spPr>
      </p:pic>
      <p:sp>
        <p:nvSpPr>
          <p:cNvPr id="39" name="Texto leyenda Cerca de la meta"/>
          <p:cNvSpPr txBox="1"/>
          <p:nvPr/>
        </p:nvSpPr>
        <p:spPr>
          <a:xfrm>
            <a:off x="3776472" y="60533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Cerca de la meta</a:t>
            </a:r>
            <a:endParaRPr lang="en-US" sz="1100" dirty="0"/>
          </a:p>
        </p:txBody>
      </p:sp>
      <p:pic>
        <p:nvPicPr>
          <p:cNvPr id="40" name="Leyenda Lejos de la meta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0640" y="6108192"/>
            <a:ext cx="201168" cy="201168"/>
          </a:xfrm>
          <a:prstGeom prst="rect">
            <a:avLst/>
          </a:prstGeom>
        </p:spPr>
      </p:pic>
      <p:sp>
        <p:nvSpPr>
          <p:cNvPr id="41" name="Texto leyenda Lejos de la meta"/>
          <p:cNvSpPr txBox="1"/>
          <p:nvPr/>
        </p:nvSpPr>
        <p:spPr>
          <a:xfrm>
            <a:off x="5376672" y="60533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Lejos de la meta</a:t>
            </a:r>
            <a:endParaRPr lang="en-US" sz="1100" dirty="0"/>
          </a:p>
        </p:txBody>
      </p:sp>
      <p:sp>
        <p:nvSpPr>
          <p:cNvPr id="42" name="Fuente métricas"/>
          <p:cNvSpPr txBox="1"/>
          <p:nvPr/>
        </p:nvSpPr>
        <p:spPr>
          <a:xfrm>
            <a:off x="6766560" y="60533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Fuentes: MINSAL, OPS, ONUSIDA, OMS, Chile Crece Contigo, Trussell (eficacia anticonceptiva).</a:t>
            </a:r>
            <a:endParaRPr lang="en-US" sz="1000" dirty="0"/>
          </a:p>
        </p:txBody>
      </p:sp>
      <p:sp>
        <p:nvSpPr>
          <p:cNvPr id="43" name="Botón índice"/>
          <p:cNvSpPr/>
          <p:nvPr/>
        </p:nvSpPr>
        <p:spPr>
          <a:xfrm>
            <a:off x="502920" y="6400800"/>
            <a:ext cx="123444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4" name="Ícono índice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504" y="6464808"/>
            <a:ext cx="201168" cy="201168"/>
          </a:xfrm>
          <a:prstGeom prst="rect">
            <a:avLst/>
          </a:prstGeom>
        </p:spPr>
      </p:pic>
      <p:sp>
        <p:nvSpPr>
          <p:cNvPr id="45" name="Texto índice"/>
          <p:cNvSpPr txBox="1"/>
          <p:nvPr/>
        </p:nvSpPr>
        <p:spPr>
          <a:xfrm>
            <a:off x="850392" y="6400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Índice</a:t>
            </a:r>
            <a:endParaRPr lang="en-US" sz="1100" dirty="0"/>
          </a:p>
        </p:txBody>
      </p:sp>
      <p:pic>
        <p:nvPicPr>
          <p:cNvPr id="46" name="Enlace índice" descr="">
            <a:hlinkClick r:id="rId14" tooltip="Volver al índice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" y="6400800"/>
            <a:ext cx="12344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3268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ideas que cruzan los cinco tableros</a:t>
            </a:r>
            <a:endParaRPr lang="en-US" sz="1500" dirty="0"/>
          </a:p>
        </p:txBody>
      </p:sp>
      <p:sp>
        <p:nvSpPr>
          <p:cNvPr id="4" name="Hallazgo El gran logro"/>
          <p:cNvSpPr/>
          <p:nvPr/>
        </p:nvSpPr>
        <p:spPr>
          <a:xfrm>
            <a:off x="548640" y="1508760"/>
            <a:ext cx="3566160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5" name="Círculo FaArrowTrendDown"/>
          <p:cNvSpPr/>
          <p:nvPr/>
        </p:nvSpPr>
        <p:spPr>
          <a:xfrm>
            <a:off x="804672" y="1764792"/>
            <a:ext cx="658368" cy="658368"/>
          </a:xfrm>
          <a:prstGeom prst="ellipse">
            <a:avLst/>
          </a:prstGeom>
          <a:solidFill>
            <a:srgbClr val="4FB38A"/>
          </a:solidFill>
          <a:ln w="12700">
            <a:solidFill>
              <a:srgbClr val="4FB38A"/>
            </a:solidFill>
            <a:prstDash val="solid"/>
          </a:ln>
        </p:spPr>
      </p:sp>
      <p:pic>
        <p:nvPicPr>
          <p:cNvPr id="6" name="Ícono FaArrowTrendDow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80" y="1922800"/>
            <a:ext cx="342351" cy="342351"/>
          </a:xfrm>
          <a:prstGeom prst="rect">
            <a:avLst/>
          </a:prstGeom>
        </p:spPr>
      </p:pic>
      <p:sp>
        <p:nvSpPr>
          <p:cNvPr id="7" name="Título hallazgo 0"/>
          <p:cNvSpPr txBox="1"/>
          <p:nvPr/>
        </p:nvSpPr>
        <p:spPr>
          <a:xfrm>
            <a:off x="1600200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gran logro</a:t>
            </a:r>
            <a:endParaRPr lang="en-US" sz="1900" dirty="0"/>
          </a:p>
        </p:txBody>
      </p:sp>
      <p:sp>
        <p:nvSpPr>
          <p:cNvPr id="8" name="Texto hallazgo 0"/>
          <p:cNvSpPr txBox="1"/>
          <p:nvPr/>
        </p:nvSpPr>
        <p:spPr>
          <a:xfrm>
            <a:off x="822960" y="25603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fecundidad adolescente bajó de 23,2 a 8,3 por mil (2018–2025).</a:t>
            </a:r>
            <a:endParaRPr lang="en-US" sz="1400" dirty="0"/>
          </a:p>
        </p:txBody>
      </p:sp>
      <p:sp>
        <p:nvSpPr>
          <p:cNvPr id="9" name="Hallazgo La alerta"/>
          <p:cNvSpPr/>
          <p:nvPr/>
        </p:nvSpPr>
        <p:spPr>
          <a:xfrm>
            <a:off x="4297680" y="1508760"/>
            <a:ext cx="3566160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10" name="Círculo FaVirus"/>
          <p:cNvSpPr/>
          <p:nvPr/>
        </p:nvSpPr>
        <p:spPr>
          <a:xfrm>
            <a:off x="4553712" y="1764792"/>
            <a:ext cx="658368" cy="658368"/>
          </a:xfrm>
          <a:prstGeom prst="ellipse">
            <a:avLst/>
          </a:prstGeom>
          <a:solidFill>
            <a:srgbClr val="EE6FB0"/>
          </a:solidFill>
          <a:ln w="12700">
            <a:solidFill>
              <a:srgbClr val="EE6FB0"/>
            </a:solidFill>
            <a:prstDash val="solid"/>
          </a:ln>
        </p:spPr>
      </p:sp>
      <p:pic>
        <p:nvPicPr>
          <p:cNvPr id="11" name="Ícono FaViru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720" y="1922800"/>
            <a:ext cx="342351" cy="342351"/>
          </a:xfrm>
          <a:prstGeom prst="rect">
            <a:avLst/>
          </a:prstGeom>
        </p:spPr>
      </p:pic>
      <p:sp>
        <p:nvSpPr>
          <p:cNvPr id="12" name="Título hallazgo 1"/>
          <p:cNvSpPr txBox="1"/>
          <p:nvPr/>
        </p:nvSpPr>
        <p:spPr>
          <a:xfrm>
            <a:off x="5349240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alerta</a:t>
            </a:r>
            <a:endParaRPr lang="en-US" sz="1900" dirty="0"/>
          </a:p>
        </p:txBody>
      </p:sp>
      <p:sp>
        <p:nvSpPr>
          <p:cNvPr id="13" name="Texto hallazgo 1"/>
          <p:cNvSpPr txBox="1"/>
          <p:nvPr/>
        </p:nvSpPr>
        <p:spPr>
          <a:xfrm>
            <a:off x="4572000" y="25603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Sífilis +64% desde 2020; Chile casi iguala a EE.UU. y quintuplica a Europa.</a:t>
            </a:r>
            <a:endParaRPr lang="en-US" sz="1400" dirty="0"/>
          </a:p>
        </p:txBody>
      </p:sp>
      <p:sp>
        <p:nvSpPr>
          <p:cNvPr id="14" name="Hallazgo La brecha de método"/>
          <p:cNvSpPr/>
          <p:nvPr/>
        </p:nvSpPr>
        <p:spPr>
          <a:xfrm>
            <a:off x="8046720" y="1508760"/>
            <a:ext cx="3566160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15" name="Círculo FaPills"/>
          <p:cNvSpPr/>
          <p:nvPr/>
        </p:nvSpPr>
        <p:spPr>
          <a:xfrm>
            <a:off x="8302752" y="1764792"/>
            <a:ext cx="658368" cy="658368"/>
          </a:xfrm>
          <a:prstGeom prst="ellipse">
            <a:avLst/>
          </a:prstGeom>
          <a:solidFill>
            <a:srgbClr val="6B3FD4"/>
          </a:solidFill>
          <a:ln w="12700">
            <a:solidFill>
              <a:srgbClr val="6B3FD4"/>
            </a:solidFill>
            <a:prstDash val="solid"/>
          </a:ln>
        </p:spPr>
      </p:sp>
      <p:pic>
        <p:nvPicPr>
          <p:cNvPr id="16" name="Ícono FaPill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760" y="1922800"/>
            <a:ext cx="342351" cy="342351"/>
          </a:xfrm>
          <a:prstGeom prst="rect">
            <a:avLst/>
          </a:prstGeom>
        </p:spPr>
      </p:pic>
      <p:sp>
        <p:nvSpPr>
          <p:cNvPr id="17" name="Título hallazgo 2"/>
          <p:cNvSpPr txBox="1"/>
          <p:nvPr/>
        </p:nvSpPr>
        <p:spPr>
          <a:xfrm>
            <a:off x="9098280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brecha de método</a:t>
            </a:r>
            <a:endParaRPr lang="en-US" sz="1900" dirty="0"/>
          </a:p>
        </p:txBody>
      </p:sp>
      <p:sp>
        <p:nvSpPr>
          <p:cNvPr id="18" name="Texto hallazgo 2"/>
          <p:cNvSpPr txBox="1"/>
          <p:nvPr/>
        </p:nvSpPr>
        <p:spPr>
          <a:xfrm>
            <a:off x="8321040" y="25603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7% de las adolescentes inicia con implante y 1,5% con DIU, los más eficaces.</a:t>
            </a:r>
            <a:endParaRPr lang="en-US" sz="1400" dirty="0"/>
          </a:p>
        </p:txBody>
      </p:sp>
      <p:sp>
        <p:nvSpPr>
          <p:cNvPr id="19" name="Hallazgo Más matronas"/>
          <p:cNvSpPr/>
          <p:nvPr/>
        </p:nvSpPr>
        <p:spPr>
          <a:xfrm>
            <a:off x="548640" y="3749040"/>
            <a:ext cx="3566160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20" name="Círculo FaUserNurse"/>
          <p:cNvSpPr/>
          <p:nvPr/>
        </p:nvSpPr>
        <p:spPr>
          <a:xfrm>
            <a:off x="804672" y="4005072"/>
            <a:ext cx="658368" cy="658368"/>
          </a:xfrm>
          <a:prstGeom prst="ellipse">
            <a:avLst/>
          </a:prstGeom>
          <a:solidFill>
            <a:srgbClr val="6B3FD4"/>
          </a:solidFill>
          <a:ln w="12700">
            <a:solidFill>
              <a:srgbClr val="6B3FD4"/>
            </a:solidFill>
            <a:prstDash val="solid"/>
          </a:ln>
        </p:spPr>
      </p:sp>
      <p:pic>
        <p:nvPicPr>
          <p:cNvPr id="21" name="Ícono FaUserNur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80" y="4163080"/>
            <a:ext cx="342351" cy="342351"/>
          </a:xfrm>
          <a:prstGeom prst="rect">
            <a:avLst/>
          </a:prstGeom>
        </p:spPr>
      </p:pic>
      <p:sp>
        <p:nvSpPr>
          <p:cNvPr id="22" name="Título hallazgo 3"/>
          <p:cNvSpPr txBox="1"/>
          <p:nvPr/>
        </p:nvSpPr>
        <p:spPr>
          <a:xfrm>
            <a:off x="1600200" y="4023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matronas</a:t>
            </a:r>
            <a:endParaRPr lang="en-US" sz="1900" dirty="0"/>
          </a:p>
        </p:txBody>
      </p:sp>
      <p:sp>
        <p:nvSpPr>
          <p:cNvPr id="23" name="Texto hallazgo 3"/>
          <p:cNvSpPr txBox="1"/>
          <p:nvPr/>
        </p:nvSpPr>
        <p:spPr>
          <a:xfrm>
            <a:off x="822960" y="4800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23.333 inscritas (+70%) y hacen más del 90% de la prevención en APS.</a:t>
            </a:r>
            <a:endParaRPr lang="en-US" sz="1400" dirty="0"/>
          </a:p>
        </p:txBody>
      </p:sp>
      <p:sp>
        <p:nvSpPr>
          <p:cNvPr id="24" name="Hallazgo Detectar a tiempo"/>
          <p:cNvSpPr/>
          <p:nvPr/>
        </p:nvSpPr>
        <p:spPr>
          <a:xfrm>
            <a:off x="4297680" y="3749040"/>
            <a:ext cx="3566160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25" name="Círculo FaMagnifyingGlass"/>
          <p:cNvSpPr/>
          <p:nvPr/>
        </p:nvSpPr>
        <p:spPr>
          <a:xfrm>
            <a:off x="4553712" y="4005072"/>
            <a:ext cx="658368" cy="658368"/>
          </a:xfrm>
          <a:prstGeom prst="ellipse">
            <a:avLst/>
          </a:prstGeom>
          <a:solidFill>
            <a:srgbClr val="EE6FB0"/>
          </a:solidFill>
          <a:ln w="12700">
            <a:solidFill>
              <a:srgbClr val="EE6FB0"/>
            </a:solidFill>
            <a:prstDash val="solid"/>
          </a:ln>
        </p:spPr>
      </p:sp>
      <p:pic>
        <p:nvPicPr>
          <p:cNvPr id="26" name="Ícono FaMagnifyingGlas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720" y="4163080"/>
            <a:ext cx="342351" cy="342351"/>
          </a:xfrm>
          <a:prstGeom prst="rect">
            <a:avLst/>
          </a:prstGeom>
        </p:spPr>
      </p:pic>
      <p:sp>
        <p:nvSpPr>
          <p:cNvPr id="27" name="Título hallazgo 4"/>
          <p:cNvSpPr txBox="1"/>
          <p:nvPr/>
        </p:nvSpPr>
        <p:spPr>
          <a:xfrm>
            <a:off x="5349240" y="4023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 a tiempo</a:t>
            </a:r>
            <a:endParaRPr lang="en-US" sz="1900" dirty="0"/>
          </a:p>
        </p:txBody>
      </p:sp>
      <p:sp>
        <p:nvSpPr>
          <p:cNvPr id="28" name="Texto hallazgo 4"/>
          <p:cNvSpPr txBox="1"/>
          <p:nvPr/>
        </p:nvSpPr>
        <p:spPr>
          <a:xfrm>
            <a:off x="4572000" y="4800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Cáncer de mama localizado: 99% de sobrevida; con metástasis: 32%.</a:t>
            </a:r>
            <a:endParaRPr lang="en-US" sz="1400" dirty="0"/>
          </a:p>
        </p:txBody>
      </p:sp>
      <p:sp>
        <p:nvSpPr>
          <p:cNvPr id="29" name="Hallazgo El ajuar llega"/>
          <p:cNvSpPr/>
          <p:nvPr/>
        </p:nvSpPr>
        <p:spPr>
          <a:xfrm>
            <a:off x="8046720" y="3749040"/>
            <a:ext cx="3566160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30" name="Círculo FaBaby"/>
          <p:cNvSpPr/>
          <p:nvPr/>
        </p:nvSpPr>
        <p:spPr>
          <a:xfrm>
            <a:off x="8302752" y="4005072"/>
            <a:ext cx="658368" cy="658368"/>
          </a:xfrm>
          <a:prstGeom prst="ellipse">
            <a:avLst/>
          </a:prstGeom>
          <a:solidFill>
            <a:srgbClr val="4FB38A"/>
          </a:solidFill>
          <a:ln w="12700">
            <a:solidFill>
              <a:srgbClr val="4FB38A"/>
            </a:solidFill>
            <a:prstDash val="solid"/>
          </a:ln>
        </p:spPr>
      </p:sp>
      <p:pic>
        <p:nvPicPr>
          <p:cNvPr id="31" name="Ícono FaBaby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0760" y="4163080"/>
            <a:ext cx="342351" cy="342351"/>
          </a:xfrm>
          <a:prstGeom prst="rect">
            <a:avLst/>
          </a:prstGeom>
        </p:spPr>
      </p:pic>
      <p:sp>
        <p:nvSpPr>
          <p:cNvPr id="32" name="Título hallazgo 5"/>
          <p:cNvSpPr txBox="1"/>
          <p:nvPr/>
        </p:nvSpPr>
        <p:spPr>
          <a:xfrm>
            <a:off x="9098280" y="4023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ajuar llega</a:t>
            </a:r>
            <a:endParaRPr lang="en-US" sz="1900" dirty="0"/>
          </a:p>
        </p:txBody>
      </p:sp>
      <p:sp>
        <p:nvSpPr>
          <p:cNvPr id="33" name="Texto hallazgo 5"/>
          <p:cNvSpPr txBox="1"/>
          <p:nvPr/>
        </p:nvSpPr>
        <p:spPr>
          <a:xfrm>
            <a:off x="8321040" y="4800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97–99% de cobertura; baja el número de sets porque nacen menos guaguas.</a:t>
            </a:r>
            <a:endParaRPr lang="en-US" sz="1400" dirty="0"/>
          </a:p>
        </p:txBody>
      </p:sp>
      <p:sp>
        <p:nvSpPr>
          <p:cNvPr id="34" name="Botón índice"/>
          <p:cNvSpPr/>
          <p:nvPr/>
        </p:nvSpPr>
        <p:spPr>
          <a:xfrm>
            <a:off x="502920" y="6400800"/>
            <a:ext cx="123444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Ícono índic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6464808"/>
            <a:ext cx="201168" cy="201168"/>
          </a:xfrm>
          <a:prstGeom prst="rect">
            <a:avLst/>
          </a:prstGeom>
        </p:spPr>
      </p:pic>
      <p:sp>
        <p:nvSpPr>
          <p:cNvPr id="36" name="Texto índice"/>
          <p:cNvSpPr txBox="1"/>
          <p:nvPr/>
        </p:nvSpPr>
        <p:spPr>
          <a:xfrm>
            <a:off x="850392" y="6400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Índice</a:t>
            </a:r>
            <a:endParaRPr lang="en-US" sz="1100" dirty="0"/>
          </a:p>
        </p:txBody>
      </p:sp>
      <p:pic>
        <p:nvPicPr>
          <p:cNvPr id="37" name="Enlace índice" descr="">
            <a:hlinkClick r:id="rId9" tooltip="Volver al índice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6400800"/>
            <a:ext cx="12344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Simulador: matronas en todos los colegios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3268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100% de colegios, anticonceptivos desde los 14 años, efecto alto (10%) y +20 puntos de uso de condón</a:t>
            </a:r>
            <a:endParaRPr lang="en-US" sz="1500" dirty="0"/>
          </a:p>
        </p:txBody>
      </p:sp>
      <p:sp>
        <p:nvSpPr>
          <p:cNvPr id="4" name="Tarjeta captura simulador"/>
          <p:cNvSpPr/>
          <p:nvPr/>
        </p:nvSpPr>
        <p:spPr>
          <a:xfrm>
            <a:off x="548640" y="1508760"/>
            <a:ext cx="6035040" cy="4434840"/>
          </a:xfrm>
          <a:prstGeom prst="roundRect">
            <a:avLst>
              <a:gd name="adj" fmla="val 2887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pic>
        <p:nvPicPr>
          <p:cNvPr id="5" name="Captura simulador" descr="Simulador de matronas en colegios">
            <a:hlinkClick r:id="rId2" tooltip="Abrir el simulador en GitHu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5760720" cy="3236976"/>
          </a:xfrm>
          <a:prstGeom prst="rect">
            <a:avLst/>
          </a:prstGeom>
        </p:spPr>
      </p:pic>
      <p:sp>
        <p:nvSpPr>
          <p:cNvPr id="6" name="Nota simulador"/>
          <p:cNvSpPr txBox="1"/>
          <p:nvPr/>
        </p:nvSpPr>
        <p:spPr>
          <a:xfrm>
            <a:off x="731520" y="50292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Clic en la imagen para abrir el tablero y mover los controles en Power BI o Tableau.</a:t>
            </a:r>
            <a:endParaRPr lang="en-US" sz="1300" dirty="0"/>
          </a:p>
        </p:txBody>
      </p:sp>
      <p:sp>
        <p:nvSpPr>
          <p:cNvPr id="7" name="Simulación 498"/>
          <p:cNvSpPr/>
          <p:nvPr/>
        </p:nvSpPr>
        <p:spPr>
          <a:xfrm>
            <a:off x="6812280" y="1508760"/>
            <a:ext cx="2331720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8" name="Cifra sim 0"/>
          <p:cNvSpPr txBox="1"/>
          <p:nvPr/>
        </p:nvSpPr>
        <p:spPr>
          <a:xfrm>
            <a:off x="6995160" y="1645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498</a:t>
            </a:r>
            <a:endParaRPr lang="en-US" sz="3400" dirty="0"/>
          </a:p>
        </p:txBody>
      </p:sp>
      <p:sp>
        <p:nvSpPr>
          <p:cNvPr id="9" name="Texto sim 0"/>
          <p:cNvSpPr txBox="1"/>
          <p:nvPr/>
        </p:nvSpPr>
        <p:spPr>
          <a:xfrm>
            <a:off x="6995160" y="2331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nacimientos de madres de 15 a 19 evitados al año</a:t>
            </a:r>
            <a:endParaRPr lang="en-US" sz="1300" dirty="0"/>
          </a:p>
        </p:txBody>
      </p:sp>
      <p:sp>
        <p:nvSpPr>
          <p:cNvPr id="10" name="Simulación 7,5"/>
          <p:cNvSpPr/>
          <p:nvPr/>
        </p:nvSpPr>
        <p:spPr>
          <a:xfrm>
            <a:off x="9281160" y="1508760"/>
            <a:ext cx="2331720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11" name="Cifra sim 1"/>
          <p:cNvSpPr txBox="1"/>
          <p:nvPr/>
        </p:nvSpPr>
        <p:spPr>
          <a:xfrm>
            <a:off x="9464040" y="1645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7,5</a:t>
            </a:r>
            <a:endParaRPr lang="en-US" sz="3400" dirty="0"/>
          </a:p>
        </p:txBody>
      </p:sp>
      <p:sp>
        <p:nvSpPr>
          <p:cNvPr id="12" name="Texto sim 1"/>
          <p:cNvSpPr txBox="1"/>
          <p:nvPr/>
        </p:nvSpPr>
        <p:spPr>
          <a:xfrm>
            <a:off x="9464040" y="2331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 mil: tasa de 15 a 19 años proyectada (hoy 8,3)</a:t>
            </a:r>
            <a:endParaRPr lang="en-US" sz="1300" dirty="0"/>
          </a:p>
        </p:txBody>
      </p:sp>
      <p:sp>
        <p:nvSpPr>
          <p:cNvPr id="13" name="Simulación 429"/>
          <p:cNvSpPr/>
          <p:nvPr/>
        </p:nvSpPr>
        <p:spPr>
          <a:xfrm>
            <a:off x="6812280" y="3337560"/>
            <a:ext cx="2331720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14" name="Cifra sim 2"/>
          <p:cNvSpPr txBox="1"/>
          <p:nvPr/>
        </p:nvSpPr>
        <p:spPr>
          <a:xfrm>
            <a:off x="6995160" y="34747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429</a:t>
            </a:r>
            <a:endParaRPr lang="en-US" sz="3400" dirty="0"/>
          </a:p>
        </p:txBody>
      </p:sp>
      <p:sp>
        <p:nvSpPr>
          <p:cNvPr id="15" name="Texto sim 2"/>
          <p:cNvSpPr txBox="1"/>
          <p:nvPr/>
        </p:nvSpPr>
        <p:spPr>
          <a:xfrm>
            <a:off x="6995160" y="4160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casos de gonorrea evitados al año</a:t>
            </a:r>
            <a:endParaRPr lang="en-US" sz="1300" dirty="0"/>
          </a:p>
        </p:txBody>
      </p:sp>
      <p:sp>
        <p:nvSpPr>
          <p:cNvPr id="16" name="Simulación 1.785"/>
          <p:cNvSpPr/>
          <p:nvPr/>
        </p:nvSpPr>
        <p:spPr>
          <a:xfrm>
            <a:off x="9281160" y="3337560"/>
            <a:ext cx="2331720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17" name="Cifra sim 3"/>
          <p:cNvSpPr txBox="1"/>
          <p:nvPr/>
        </p:nvSpPr>
        <p:spPr>
          <a:xfrm>
            <a:off x="9464040" y="34747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1.785</a:t>
            </a:r>
            <a:endParaRPr lang="en-US" sz="3400" dirty="0"/>
          </a:p>
        </p:txBody>
      </p:sp>
      <p:sp>
        <p:nvSpPr>
          <p:cNvPr id="18" name="Texto sim 3"/>
          <p:cNvSpPr txBox="1"/>
          <p:nvPr/>
        </p:nvSpPr>
        <p:spPr>
          <a:xfrm>
            <a:off x="9464040" y="4160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casos de sífilis evitados al año</a:t>
            </a:r>
            <a:endParaRPr lang="en-US" sz="1300" dirty="0"/>
          </a:p>
        </p:txBody>
      </p:sp>
      <p:sp>
        <p:nvSpPr>
          <p:cNvPr id="19" name="Aviso simulador"/>
          <p:cNvSpPr txBox="1"/>
          <p:nvPr/>
        </p:nvSpPr>
        <p:spPr>
          <a:xfrm>
            <a:off x="6812280" y="5212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Simulación educativa con supuestos explícitos, no una proyección oficial: la educación sola, sin acceso a métodos, no mostró efecto claro en embarazos (Cochrane 2016).</a:t>
            </a:r>
            <a:endParaRPr lang="en-US" sz="1200" dirty="0"/>
          </a:p>
        </p:txBody>
      </p:sp>
      <p:sp>
        <p:nvSpPr>
          <p:cNvPr id="20" name="Botón índice"/>
          <p:cNvSpPr/>
          <p:nvPr/>
        </p:nvSpPr>
        <p:spPr>
          <a:xfrm>
            <a:off x="502920" y="6400800"/>
            <a:ext cx="123444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Ícono índic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6464808"/>
            <a:ext cx="201168" cy="201168"/>
          </a:xfrm>
          <a:prstGeom prst="rect">
            <a:avLst/>
          </a:prstGeom>
        </p:spPr>
      </p:pic>
      <p:sp>
        <p:nvSpPr>
          <p:cNvPr id="22" name="Texto índice"/>
          <p:cNvSpPr txBox="1"/>
          <p:nvPr/>
        </p:nvSpPr>
        <p:spPr>
          <a:xfrm>
            <a:off x="850392" y="6400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Índice</a:t>
            </a:r>
            <a:endParaRPr lang="en-US" sz="1100" dirty="0"/>
          </a:p>
        </p:txBody>
      </p:sp>
      <p:pic>
        <p:nvPicPr>
          <p:cNvPr id="23" name="Enlace índice" descr="">
            <a:hlinkClick r:id="rId5" tooltip="Volver al índice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12344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Medidas a tomar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3268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acciones concretas, cada una ligada a un indicador que se puede seguir en los tableros</a:t>
            </a:r>
            <a:endParaRPr lang="en-US" sz="1500" dirty="0"/>
          </a:p>
        </p:txBody>
      </p:sp>
      <p:sp>
        <p:nvSpPr>
          <p:cNvPr id="4" name="Medida Matronas en los colegios"/>
          <p:cNvSpPr/>
          <p:nvPr/>
        </p:nvSpPr>
        <p:spPr>
          <a:xfrm>
            <a:off x="548640" y="1508760"/>
            <a:ext cx="5440680" cy="1353312"/>
          </a:xfrm>
          <a:prstGeom prst="roundRect">
            <a:avLst>
              <a:gd name="adj" fmla="val 9459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5" name="Círculo FaSchool"/>
          <p:cNvSpPr/>
          <p:nvPr/>
        </p:nvSpPr>
        <p:spPr>
          <a:xfrm>
            <a:off x="777240" y="1801368"/>
            <a:ext cx="731520" cy="731520"/>
          </a:xfrm>
          <a:prstGeom prst="ellipse">
            <a:avLst/>
          </a:prstGeom>
          <a:solidFill>
            <a:srgbClr val="6B3FD4"/>
          </a:solidFill>
          <a:ln w="12700">
            <a:solidFill>
              <a:srgbClr val="6B3FD4"/>
            </a:solidFill>
            <a:prstDash val="solid"/>
          </a:ln>
        </p:spPr>
      </p:sp>
      <p:pic>
        <p:nvPicPr>
          <p:cNvPr id="6" name="Ícono FaSchoo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976933"/>
            <a:ext cx="380390" cy="380390"/>
          </a:xfrm>
          <a:prstGeom prst="rect">
            <a:avLst/>
          </a:prstGeom>
        </p:spPr>
      </p:pic>
      <p:sp>
        <p:nvSpPr>
          <p:cNvPr id="7" name="Texto medida 0"/>
          <p:cNvSpPr txBox="1"/>
          <p:nvPr/>
        </p:nvSpPr>
        <p:spPr>
          <a:xfrm>
            <a:off x="1691640" y="1600200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Matronas en los colegios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3A2E4A"/>
                </a:solidFill>
              </a:rPr>
              <a:t>Educación sexual integral con acceso a métodos desde los 14 años (Ley 20.418).</a:t>
            </a:r>
            <a:endParaRPr lang="en-US" sz="1700" dirty="0"/>
          </a:p>
        </p:txBody>
      </p:sp>
      <p:sp>
        <p:nvSpPr>
          <p:cNvPr id="8" name="Chip 0"/>
          <p:cNvSpPr/>
          <p:nvPr/>
        </p:nvSpPr>
        <p:spPr>
          <a:xfrm>
            <a:off x="4480560" y="1810512"/>
            <a:ext cx="1371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ndicador medida 0"/>
          <p:cNvSpPr txBox="1"/>
          <p:nvPr/>
        </p:nvSpPr>
        <p:spPr>
          <a:xfrm>
            <a:off x="4507992" y="1810512"/>
            <a:ext cx="1316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Fecundidad 15–19</a:t>
            </a:r>
            <a:endParaRPr lang="en-US" sz="1200" dirty="0"/>
          </a:p>
        </p:txBody>
      </p:sp>
      <p:sp>
        <p:nvSpPr>
          <p:cNvPr id="10" name="Medida Testear y tratar ITS"/>
          <p:cNvSpPr/>
          <p:nvPr/>
        </p:nvSpPr>
        <p:spPr>
          <a:xfrm>
            <a:off x="6126480" y="1508760"/>
            <a:ext cx="5440680" cy="1353312"/>
          </a:xfrm>
          <a:prstGeom prst="roundRect">
            <a:avLst>
              <a:gd name="adj" fmla="val 9459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11" name="Círculo FaVial"/>
          <p:cNvSpPr/>
          <p:nvPr/>
        </p:nvSpPr>
        <p:spPr>
          <a:xfrm>
            <a:off x="6355080" y="1801368"/>
            <a:ext cx="731520" cy="731520"/>
          </a:xfrm>
          <a:prstGeom prst="ellipse">
            <a:avLst/>
          </a:prstGeom>
          <a:solidFill>
            <a:srgbClr val="EE6FB0"/>
          </a:solidFill>
          <a:ln w="12700">
            <a:solidFill>
              <a:srgbClr val="EE6FB0"/>
            </a:solidFill>
            <a:prstDash val="solid"/>
          </a:ln>
        </p:spPr>
      </p:sp>
      <p:pic>
        <p:nvPicPr>
          <p:cNvPr id="12" name="Ícono FaVia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645" y="1976933"/>
            <a:ext cx="380390" cy="380390"/>
          </a:xfrm>
          <a:prstGeom prst="rect">
            <a:avLst/>
          </a:prstGeom>
        </p:spPr>
      </p:pic>
      <p:sp>
        <p:nvSpPr>
          <p:cNvPr id="13" name="Texto medida 1"/>
          <p:cNvSpPr txBox="1"/>
          <p:nvPr/>
        </p:nvSpPr>
        <p:spPr>
          <a:xfrm>
            <a:off x="7269480" y="1600200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Testear y tratar ITS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3A2E4A"/>
                </a:solidFill>
              </a:rPr>
              <a:t>Test rápido de VIH y sífilis en APS y llevar a tratamiento a las 21.915 personas pendientes.</a:t>
            </a:r>
            <a:endParaRPr lang="en-US" sz="1700" dirty="0"/>
          </a:p>
        </p:txBody>
      </p:sp>
      <p:sp>
        <p:nvSpPr>
          <p:cNvPr id="14" name="Chip 1"/>
          <p:cNvSpPr/>
          <p:nvPr/>
        </p:nvSpPr>
        <p:spPr>
          <a:xfrm>
            <a:off x="10058400" y="1810512"/>
            <a:ext cx="1371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ndicador medida 1"/>
          <p:cNvSpPr txBox="1"/>
          <p:nvPr/>
        </p:nvSpPr>
        <p:spPr>
          <a:xfrm>
            <a:off x="10085832" y="1810512"/>
            <a:ext cx="1316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VIH en tratamiento: 71% → 95%</a:t>
            </a:r>
            <a:endParaRPr lang="en-US" sz="1200" dirty="0"/>
          </a:p>
        </p:txBody>
      </p:sp>
      <p:sp>
        <p:nvSpPr>
          <p:cNvPr id="16" name="Medida Ofrecer primero implante y DIU"/>
          <p:cNvSpPr/>
          <p:nvPr/>
        </p:nvSpPr>
        <p:spPr>
          <a:xfrm>
            <a:off x="548640" y="2999232"/>
            <a:ext cx="5440680" cy="1353312"/>
          </a:xfrm>
          <a:prstGeom prst="roundRect">
            <a:avLst>
              <a:gd name="adj" fmla="val 9459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17" name="Círculo FaPills"/>
          <p:cNvSpPr/>
          <p:nvPr/>
        </p:nvSpPr>
        <p:spPr>
          <a:xfrm>
            <a:off x="777240" y="3291840"/>
            <a:ext cx="731520" cy="731520"/>
          </a:xfrm>
          <a:prstGeom prst="ellipse">
            <a:avLst/>
          </a:prstGeom>
          <a:solidFill>
            <a:srgbClr val="6B3FD4"/>
          </a:solidFill>
          <a:ln w="12700">
            <a:solidFill>
              <a:srgbClr val="6B3FD4"/>
            </a:solidFill>
            <a:prstDash val="solid"/>
          </a:ln>
        </p:spPr>
      </p:sp>
      <p:pic>
        <p:nvPicPr>
          <p:cNvPr id="18" name="Ícono FaPill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3467405"/>
            <a:ext cx="380390" cy="380390"/>
          </a:xfrm>
          <a:prstGeom prst="rect">
            <a:avLst/>
          </a:prstGeom>
        </p:spPr>
      </p:pic>
      <p:sp>
        <p:nvSpPr>
          <p:cNvPr id="19" name="Texto medida 2"/>
          <p:cNvSpPr txBox="1"/>
          <p:nvPr/>
        </p:nvSpPr>
        <p:spPr>
          <a:xfrm>
            <a:off x="1691640" y="3090672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Ofrecer primero implante y DIU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3A2E4A"/>
                </a:solidFill>
              </a:rPr>
              <a:t>Consejería que presente los métodos de larga duración como primera opción.</a:t>
            </a:r>
            <a:endParaRPr lang="en-US" sz="1700" dirty="0"/>
          </a:p>
        </p:txBody>
      </p:sp>
      <p:sp>
        <p:nvSpPr>
          <p:cNvPr id="20" name="Chip 2"/>
          <p:cNvSpPr/>
          <p:nvPr/>
        </p:nvSpPr>
        <p:spPr>
          <a:xfrm>
            <a:off x="4480560" y="3300984"/>
            <a:ext cx="1371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ndicador medida 2"/>
          <p:cNvSpPr txBox="1"/>
          <p:nvPr/>
        </p:nvSpPr>
        <p:spPr>
          <a:xfrm>
            <a:off x="4507992" y="3300984"/>
            <a:ext cx="1316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Inicio con LARC: 9%</a:t>
            </a:r>
            <a:endParaRPr lang="en-US" sz="1200" dirty="0"/>
          </a:p>
        </p:txBody>
      </p:sp>
      <p:sp>
        <p:nvSpPr>
          <p:cNvPr id="22" name="Medida Subir la pesquisa de cáncer"/>
          <p:cNvSpPr/>
          <p:nvPr/>
        </p:nvSpPr>
        <p:spPr>
          <a:xfrm>
            <a:off x="6126480" y="2999232"/>
            <a:ext cx="5440680" cy="1353312"/>
          </a:xfrm>
          <a:prstGeom prst="roundRect">
            <a:avLst>
              <a:gd name="adj" fmla="val 9459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23" name="Círculo FaRibbon"/>
          <p:cNvSpPr/>
          <p:nvPr/>
        </p:nvSpPr>
        <p:spPr>
          <a:xfrm>
            <a:off x="6355080" y="3291840"/>
            <a:ext cx="731520" cy="731520"/>
          </a:xfrm>
          <a:prstGeom prst="ellipse">
            <a:avLst/>
          </a:prstGeom>
          <a:solidFill>
            <a:srgbClr val="EE6FB0"/>
          </a:solidFill>
          <a:ln w="12700">
            <a:solidFill>
              <a:srgbClr val="EE6FB0"/>
            </a:solidFill>
            <a:prstDash val="solid"/>
          </a:ln>
        </p:spPr>
      </p:sp>
      <p:pic>
        <p:nvPicPr>
          <p:cNvPr id="24" name="Ícono FaRibb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645" y="3467405"/>
            <a:ext cx="380390" cy="380390"/>
          </a:xfrm>
          <a:prstGeom prst="rect">
            <a:avLst/>
          </a:prstGeom>
        </p:spPr>
      </p:pic>
      <p:sp>
        <p:nvSpPr>
          <p:cNvPr id="25" name="Texto medida 3"/>
          <p:cNvSpPr txBox="1"/>
          <p:nvPr/>
        </p:nvSpPr>
        <p:spPr>
          <a:xfrm>
            <a:off x="7269480" y="3090672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Subir la pesquisa de cáncer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3A2E4A"/>
                </a:solidFill>
              </a:rPr>
              <a:t>Mamografía, test VPH y PAP con citación activa; completar la vacuna VPH.</a:t>
            </a:r>
            <a:endParaRPr lang="en-US" sz="1700" dirty="0"/>
          </a:p>
        </p:txBody>
      </p:sp>
      <p:sp>
        <p:nvSpPr>
          <p:cNvPr id="26" name="Chip 3"/>
          <p:cNvSpPr/>
          <p:nvPr/>
        </p:nvSpPr>
        <p:spPr>
          <a:xfrm>
            <a:off x="10058400" y="3300984"/>
            <a:ext cx="1371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Indicador medida 3"/>
          <p:cNvSpPr txBox="1"/>
          <p:nvPr/>
        </p:nvSpPr>
        <p:spPr>
          <a:xfrm>
            <a:off x="10085832" y="3300984"/>
            <a:ext cx="1316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Mamografía: 37,4% → 70%</a:t>
            </a:r>
            <a:endParaRPr lang="en-US" sz="1200" dirty="0"/>
          </a:p>
        </p:txBody>
      </p:sp>
      <p:sp>
        <p:nvSpPr>
          <p:cNvPr id="28" name="Medida Cuidar la cadena del ajuar"/>
          <p:cNvSpPr/>
          <p:nvPr/>
        </p:nvSpPr>
        <p:spPr>
          <a:xfrm>
            <a:off x="548640" y="4489704"/>
            <a:ext cx="5440680" cy="1353312"/>
          </a:xfrm>
          <a:prstGeom prst="roundRect">
            <a:avLst>
              <a:gd name="adj" fmla="val 9459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29" name="Círculo FaBaby"/>
          <p:cNvSpPr/>
          <p:nvPr/>
        </p:nvSpPr>
        <p:spPr>
          <a:xfrm>
            <a:off x="777240" y="4782312"/>
            <a:ext cx="731520" cy="731520"/>
          </a:xfrm>
          <a:prstGeom prst="ellipse">
            <a:avLst/>
          </a:prstGeom>
          <a:solidFill>
            <a:srgbClr val="6B3FD4"/>
          </a:solidFill>
          <a:ln w="12700">
            <a:solidFill>
              <a:srgbClr val="6B3FD4"/>
            </a:solidFill>
            <a:prstDash val="solid"/>
          </a:ln>
        </p:spPr>
      </p:sp>
      <p:pic>
        <p:nvPicPr>
          <p:cNvPr id="30" name="Ícono FaBab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4957877"/>
            <a:ext cx="380390" cy="380390"/>
          </a:xfrm>
          <a:prstGeom prst="rect">
            <a:avLst/>
          </a:prstGeom>
        </p:spPr>
      </p:pic>
      <p:sp>
        <p:nvSpPr>
          <p:cNvPr id="31" name="Texto medida 4"/>
          <p:cNvSpPr txBox="1"/>
          <p:nvPr/>
        </p:nvSpPr>
        <p:spPr>
          <a:xfrm>
            <a:off x="1691640" y="4581144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Cuidar la cadena del ajuar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3A2E4A"/>
                </a:solidFill>
              </a:rPr>
              <a:t>Más de un oferente en la licitación y taller educativo antes del alta para todas.</a:t>
            </a:r>
            <a:endParaRPr lang="en-US" sz="1700" dirty="0"/>
          </a:p>
        </p:txBody>
      </p:sp>
      <p:sp>
        <p:nvSpPr>
          <p:cNvPr id="32" name="Chip 4"/>
          <p:cNvSpPr/>
          <p:nvPr/>
        </p:nvSpPr>
        <p:spPr>
          <a:xfrm>
            <a:off x="4480560" y="4791456"/>
            <a:ext cx="1371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Indicador medida 4"/>
          <p:cNvSpPr txBox="1"/>
          <p:nvPr/>
        </p:nvSpPr>
        <p:spPr>
          <a:xfrm>
            <a:off x="4507992" y="4791456"/>
            <a:ext cx="1316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Cobertura: 100%</a:t>
            </a:r>
            <a:endParaRPr lang="en-US" sz="1200" dirty="0"/>
          </a:p>
        </p:txBody>
      </p:sp>
      <p:sp>
        <p:nvSpPr>
          <p:cNvPr id="34" name="Medida Medir lo que falta"/>
          <p:cNvSpPr/>
          <p:nvPr/>
        </p:nvSpPr>
        <p:spPr>
          <a:xfrm>
            <a:off x="6126480" y="4489704"/>
            <a:ext cx="5440680" cy="1353312"/>
          </a:xfrm>
          <a:prstGeom prst="roundRect">
            <a:avLst>
              <a:gd name="adj" fmla="val 9459"/>
            </a:avLst>
          </a:prstGeom>
          <a:solidFill>
            <a:schemeClr val="bg1"/>
          </a:solidFill>
          <a:ln w="9525">
            <a:solidFill>
              <a:srgbClr val="B9A6EC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D4">
                <a:alpha val="12000"/>
              </a:srgbClr>
            </a:outerShdw>
          </a:effectLst>
        </p:spPr>
      </p:sp>
      <p:sp>
        <p:nvSpPr>
          <p:cNvPr id="35" name="Círculo FaDatabase"/>
          <p:cNvSpPr/>
          <p:nvPr/>
        </p:nvSpPr>
        <p:spPr>
          <a:xfrm>
            <a:off x="6355080" y="4782312"/>
            <a:ext cx="731520" cy="731520"/>
          </a:xfrm>
          <a:prstGeom prst="ellipse">
            <a:avLst/>
          </a:prstGeom>
          <a:solidFill>
            <a:srgbClr val="EE6FB0"/>
          </a:solidFill>
          <a:ln w="12700">
            <a:solidFill>
              <a:srgbClr val="EE6FB0"/>
            </a:solidFill>
            <a:prstDash val="solid"/>
          </a:ln>
        </p:spPr>
      </p:sp>
      <p:pic>
        <p:nvPicPr>
          <p:cNvPr id="36" name="Ícono FaDatabas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0645" y="4957877"/>
            <a:ext cx="380390" cy="380390"/>
          </a:xfrm>
          <a:prstGeom prst="rect">
            <a:avLst/>
          </a:prstGeom>
        </p:spPr>
      </p:pic>
      <p:sp>
        <p:nvSpPr>
          <p:cNvPr id="37" name="Texto medida 5"/>
          <p:cNvSpPr txBox="1"/>
          <p:nvPr/>
        </p:nvSpPr>
        <p:spPr>
          <a:xfrm>
            <a:off x="7269480" y="4581144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lo que falta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3A2E4A"/>
                </a:solidFill>
              </a:rPr>
              <a:t>Encuesta nacional de embarazo no planificado (último dato: 2010) y dotación de matronas.</a:t>
            </a:r>
            <a:endParaRPr lang="en-US" sz="1700" dirty="0"/>
          </a:p>
        </p:txBody>
      </p:sp>
      <p:sp>
        <p:nvSpPr>
          <p:cNvPr id="38" name="Chip 5"/>
          <p:cNvSpPr/>
          <p:nvPr/>
        </p:nvSpPr>
        <p:spPr>
          <a:xfrm>
            <a:off x="10058400" y="4791456"/>
            <a:ext cx="1371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Indicador medida 5"/>
          <p:cNvSpPr txBox="1"/>
          <p:nvPr/>
        </p:nvSpPr>
        <p:spPr>
          <a:xfrm>
            <a:off x="10085832" y="4791456"/>
            <a:ext cx="1316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Datos abiertos</a:t>
            </a:r>
            <a:endParaRPr lang="en-US" sz="1200" dirty="0"/>
          </a:p>
        </p:txBody>
      </p:sp>
      <p:sp>
        <p:nvSpPr>
          <p:cNvPr id="40" name="Botón índice"/>
          <p:cNvSpPr/>
          <p:nvPr/>
        </p:nvSpPr>
        <p:spPr>
          <a:xfrm>
            <a:off x="502920" y="6400800"/>
            <a:ext cx="123444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Ícono índic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6464808"/>
            <a:ext cx="201168" cy="201168"/>
          </a:xfrm>
          <a:prstGeom prst="rect">
            <a:avLst/>
          </a:prstGeom>
        </p:spPr>
      </p:pic>
      <p:sp>
        <p:nvSpPr>
          <p:cNvPr id="42" name="Texto índice"/>
          <p:cNvSpPr txBox="1"/>
          <p:nvPr/>
        </p:nvSpPr>
        <p:spPr>
          <a:xfrm>
            <a:off x="850392" y="6400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Índice</a:t>
            </a:r>
            <a:endParaRPr lang="en-US" sz="1100" dirty="0"/>
          </a:p>
        </p:txBody>
      </p:sp>
      <p:pic>
        <p:nvPicPr>
          <p:cNvPr id="43" name="Enlace índice" descr="">
            <a:hlinkClick r:id="rId9" tooltip="Volver al índice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6400800"/>
            <a:ext cx="12344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conclusiones"/>
          <p:cNvSpPr txBox="1"/>
          <p:nvPr/>
        </p:nvSpPr>
        <p:spPr>
          <a:xfrm>
            <a:off x="731520" y="502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4400" dirty="0"/>
          </a:p>
        </p:txBody>
      </p:sp>
      <p:sp>
        <p:nvSpPr>
          <p:cNvPr id="3" name="Conclusión 0"/>
          <p:cNvSpPr/>
          <p:nvPr/>
        </p:nvSpPr>
        <p:spPr>
          <a:xfrm>
            <a:off x="731520" y="1783080"/>
            <a:ext cx="5120640" cy="1783080"/>
          </a:xfrm>
          <a:prstGeom prst="roundRect">
            <a:avLst>
              <a:gd name="adj" fmla="val 820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Círculo FaHeart"/>
          <p:cNvSpPr/>
          <p:nvPr/>
        </p:nvSpPr>
        <p:spPr>
          <a:xfrm>
            <a:off x="1005840" y="2286000"/>
            <a:ext cx="777240" cy="777240"/>
          </a:xfrm>
          <a:prstGeom prst="ellipse">
            <a:avLst/>
          </a:prstGeom>
          <a:solidFill>
            <a:srgbClr val="EE6FB0"/>
          </a:solidFill>
          <a:ln w="12700">
            <a:solidFill>
              <a:srgbClr val="EE6FB0"/>
            </a:solidFill>
            <a:prstDash val="solid"/>
          </a:ln>
        </p:spPr>
      </p:sp>
      <p:pic>
        <p:nvPicPr>
          <p:cNvPr id="5" name="Ícono FaHear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378" y="2472538"/>
            <a:ext cx="404165" cy="404165"/>
          </a:xfrm>
          <a:prstGeom prst="rect">
            <a:avLst/>
          </a:prstGeom>
        </p:spPr>
      </p:pic>
      <p:sp>
        <p:nvSpPr>
          <p:cNvPr id="6" name="Texto conclusión 0"/>
          <p:cNvSpPr txBox="1"/>
          <p:nvPr/>
        </p:nvSpPr>
        <p:spPr>
          <a:xfrm>
            <a:off x="2011680" y="196596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La prevención funciona: el embarazo adolescente cayó a un tercio en siete años.</a:t>
            </a:r>
            <a:endParaRPr lang="en-US" sz="1700" dirty="0"/>
          </a:p>
        </p:txBody>
      </p:sp>
      <p:sp>
        <p:nvSpPr>
          <p:cNvPr id="7" name="Conclusión 1"/>
          <p:cNvSpPr/>
          <p:nvPr/>
        </p:nvSpPr>
        <p:spPr>
          <a:xfrm>
            <a:off x="6126480" y="1783080"/>
            <a:ext cx="5120640" cy="1783080"/>
          </a:xfrm>
          <a:prstGeom prst="roundRect">
            <a:avLst>
              <a:gd name="adj" fmla="val 820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Círculo FaTriangleExclamation"/>
          <p:cNvSpPr/>
          <p:nvPr/>
        </p:nvSpPr>
        <p:spPr>
          <a:xfrm>
            <a:off x="6400800" y="2286000"/>
            <a:ext cx="777240" cy="777240"/>
          </a:xfrm>
          <a:prstGeom prst="ellipse">
            <a:avLst/>
          </a:prstGeom>
          <a:solidFill>
            <a:srgbClr val="6B3FD4"/>
          </a:solidFill>
          <a:ln w="12700">
            <a:solidFill>
              <a:srgbClr val="6B3FD4"/>
            </a:solidFill>
            <a:prstDash val="solid"/>
          </a:ln>
        </p:spPr>
      </p:sp>
      <p:pic>
        <p:nvPicPr>
          <p:cNvPr id="9" name="Ícono FaTriangleExclama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8" y="2472538"/>
            <a:ext cx="404165" cy="404165"/>
          </a:xfrm>
          <a:prstGeom prst="rect">
            <a:avLst/>
          </a:prstGeom>
        </p:spPr>
      </p:pic>
      <p:sp>
        <p:nvSpPr>
          <p:cNvPr id="10" name="Texto conclusión 1"/>
          <p:cNvSpPr txBox="1"/>
          <p:nvPr/>
        </p:nvSpPr>
        <p:spPr>
          <a:xfrm>
            <a:off x="7406640" y="196596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Las ITS van en sentido contrario: la sífilis de Chile es 5 veces la de Europa.</a:t>
            </a:r>
            <a:endParaRPr lang="en-US" sz="1700" dirty="0"/>
          </a:p>
        </p:txBody>
      </p:sp>
      <p:sp>
        <p:nvSpPr>
          <p:cNvPr id="11" name="Conclusión 2"/>
          <p:cNvSpPr/>
          <p:nvPr/>
        </p:nvSpPr>
        <p:spPr>
          <a:xfrm>
            <a:off x="731520" y="3840480"/>
            <a:ext cx="5120640" cy="1783080"/>
          </a:xfrm>
          <a:prstGeom prst="roundRect">
            <a:avLst>
              <a:gd name="adj" fmla="val 820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Círculo FaMagnifyingGlass"/>
          <p:cNvSpPr/>
          <p:nvPr/>
        </p:nvSpPr>
        <p:spPr>
          <a:xfrm>
            <a:off x="1005840" y="4343400"/>
            <a:ext cx="777240" cy="777240"/>
          </a:xfrm>
          <a:prstGeom prst="ellipse">
            <a:avLst/>
          </a:prstGeom>
          <a:solidFill>
            <a:srgbClr val="EE6FB0"/>
          </a:solidFill>
          <a:ln w="12700">
            <a:solidFill>
              <a:srgbClr val="EE6FB0"/>
            </a:solidFill>
            <a:prstDash val="solid"/>
          </a:ln>
        </p:spPr>
      </p:sp>
      <p:pic>
        <p:nvPicPr>
          <p:cNvPr id="13" name="Ícono FaMagnifyingGlas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378" y="4529938"/>
            <a:ext cx="404165" cy="404165"/>
          </a:xfrm>
          <a:prstGeom prst="rect">
            <a:avLst/>
          </a:prstGeom>
        </p:spPr>
      </p:pic>
      <p:sp>
        <p:nvSpPr>
          <p:cNvPr id="14" name="Texto conclusión 2"/>
          <p:cNvSpPr txBox="1"/>
          <p:nvPr/>
        </p:nvSpPr>
        <p:spPr>
          <a:xfrm>
            <a:off x="2011680" y="402336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En cáncer, llegar a tiempo cambia todo: la pesquisa todavía está lejos de su meta.</a:t>
            </a:r>
            <a:endParaRPr lang="en-US" sz="1700" dirty="0"/>
          </a:p>
        </p:txBody>
      </p:sp>
      <p:sp>
        <p:nvSpPr>
          <p:cNvPr id="15" name="Conclusión 3"/>
          <p:cNvSpPr/>
          <p:nvPr/>
        </p:nvSpPr>
        <p:spPr>
          <a:xfrm>
            <a:off x="6126480" y="3840480"/>
            <a:ext cx="5120640" cy="1783080"/>
          </a:xfrm>
          <a:prstGeom prst="roundRect">
            <a:avLst>
              <a:gd name="adj" fmla="val 820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Círculo FaUserNurse"/>
          <p:cNvSpPr/>
          <p:nvPr/>
        </p:nvSpPr>
        <p:spPr>
          <a:xfrm>
            <a:off x="6400800" y="4343400"/>
            <a:ext cx="777240" cy="777240"/>
          </a:xfrm>
          <a:prstGeom prst="ellipse">
            <a:avLst/>
          </a:prstGeom>
          <a:solidFill>
            <a:srgbClr val="6B3FD4"/>
          </a:solidFill>
          <a:ln w="12700">
            <a:solidFill>
              <a:srgbClr val="6B3FD4"/>
            </a:solidFill>
            <a:prstDash val="solid"/>
          </a:ln>
        </p:spPr>
      </p:sp>
      <p:pic>
        <p:nvPicPr>
          <p:cNvPr id="17" name="Ícono FaUserNur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8" y="4529938"/>
            <a:ext cx="404165" cy="404165"/>
          </a:xfrm>
          <a:prstGeom prst="rect">
            <a:avLst/>
          </a:prstGeom>
        </p:spPr>
      </p:pic>
      <p:sp>
        <p:nvSpPr>
          <p:cNvPr id="18" name="Texto conclusión 3"/>
          <p:cNvSpPr txBox="1"/>
          <p:nvPr/>
        </p:nvSpPr>
        <p:spPr>
          <a:xfrm>
            <a:off x="7406640" y="402336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Chile tiene más matronas que nunca: el desafío es ponerlas donde está la prevención.</a:t>
            </a:r>
            <a:endParaRPr lang="en-US" sz="1700" dirty="0"/>
          </a:p>
        </p:txBody>
      </p:sp>
      <p:pic>
        <p:nvPicPr>
          <p:cNvPr id="19" name="Logo" descr="Logo María Cisterna, matrona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052560" y="411480"/>
            <a:ext cx="2651760" cy="886968"/>
          </a:xfrm>
          <a:prstGeom prst="rect">
            <a:avLst/>
          </a:prstGeom>
        </p:spPr>
      </p:pic>
      <p:sp>
        <p:nvSpPr>
          <p:cNvPr id="20" name="Botón índice"/>
          <p:cNvSpPr/>
          <p:nvPr/>
        </p:nvSpPr>
        <p:spPr>
          <a:xfrm>
            <a:off x="731520" y="617220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o índice"/>
          <p:cNvSpPr txBox="1"/>
          <p:nvPr/>
        </p:nvSpPr>
        <p:spPr>
          <a:xfrm>
            <a:off x="731520" y="61722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Índice</a:t>
            </a:r>
            <a:endParaRPr lang="en-US" sz="1100" dirty="0"/>
          </a:p>
        </p:txBody>
      </p:sp>
      <p:pic>
        <p:nvPicPr>
          <p:cNvPr id="22" name="Enlace Volver al índice" descr="">
            <a:hlinkClick r:id="rId7" tooltip="Volver al índice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172200"/>
            <a:ext cx="1234440" cy="329184"/>
          </a:xfrm>
          <a:prstGeom prst="rect">
            <a:avLst/>
          </a:prstGeom>
        </p:spPr>
      </p:pic>
      <p:sp>
        <p:nvSpPr>
          <p:cNvPr id="23" name="Text 0"/>
          <p:cNvSpPr/>
          <p:nvPr>
            <p:ph idx="100" type="title" hasCustomPrompt="1"/>
          </p:nvPr>
        </p:nvSpPr>
        <p:spPr>
          <a:xfrm>
            <a:off x="731520" y="214884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24" name="Text 0"/>
          <p:cNvSpPr/>
          <p:nvPr>
            <p:ph idx="101" type="body" hasCustomPrompt="1"/>
          </p:nvPr>
        </p:nvSpPr>
        <p:spPr>
          <a:xfrm>
            <a:off x="731520" y="39776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ía Cisterna Matrona">
  <a:themeElements>
    <a:clrScheme name="María Cisterna Matrona">
      <a:dk1>
        <a:srgbClr val="3A2E4A"/>
      </a:dk1>
      <a:lt1>
        <a:srgbClr val="FFFFFF"/>
      </a:lt1>
      <a:dk2>
        <a:srgbClr val="2B1852"/>
      </a:dk2>
      <a:lt2>
        <a:srgbClr val="F4EFFC"/>
      </a:lt2>
      <a:accent1>
        <a:srgbClr val="6B3FD4"/>
      </a:accent1>
      <a:accent2>
        <a:srgbClr val="EE6FB0"/>
      </a:accent2>
      <a:accent3>
        <a:srgbClr val="8FD3E8"/>
      </a:accent3>
      <a:accent4>
        <a:srgbClr val="F6B94A"/>
      </a:accent4>
      <a:accent5>
        <a:srgbClr val="4FB38A"/>
      </a:accent5>
      <a:accent6>
        <a:srgbClr val="B9A6EC"/>
      </a:accent6>
      <a:hlink>
        <a:srgbClr val="6B3FD4"/>
      </a:hlink>
      <a:folHlink>
        <a:srgbClr val="9C5BD8"/>
      </a:folHlink>
    </a:clrScheme>
    <a:fontScheme name="María Cisterna Matron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María Cisterna Escobar · Matrona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Salud sexual y reproductiva en Chile en datos</dc:title>
  <dc:subject>Análisis de datos en salud</dc:subject>
  <dc:creator>María Cisterna Escobar, matrona</dc:creator>
  <cp:lastModifiedBy>María Cisterna Escobar, matrona</cp:lastModifiedBy>
  <cp:revision>1</cp:revision>
  <dcterms:created xsi:type="dcterms:W3CDTF">2026-10-09T03:51:34Z</dcterms:created>
  <dcterms:modified xsi:type="dcterms:W3CDTF">2026-10-09T03:51:34Z</dcterms:modified>
</cp:coreProperties>
</file>